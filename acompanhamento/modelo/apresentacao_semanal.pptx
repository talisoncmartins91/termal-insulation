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0"/>
  </p:notesMasterIdLst>
  <p:sldIdLst>
    <p:sldId id="271" r:id="rId5"/>
    <p:sldId id="436" r:id="rId6"/>
    <p:sldId id="461" r:id="rId7"/>
    <p:sldId id="450" r:id="rId8"/>
    <p:sldId id="451" r:id="rId9"/>
  </p:sldIdLst>
  <p:sldSz cx="12801600" cy="9601200" type="A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  <a:srgbClr val="FFC1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74446F-31AC-45FB-8CFE-8C42A3ACC035}" v="16" dt="2026-10-27T12:36:20.574"/>
    <p1510:client id="{53213CEE-C643-4CAB-A5F7-CBB0DD8DFBF4}" v="2" dt="2026-10-27T13:53:53.07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18603FDC-E32A-4AB5-989C-0864C3EAD2B8}" styleName="Estilo com Tema 2 - Ênfase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8A107856-5554-42FB-B03E-39F5DBC370BA}" styleName="Estilo Médio 4 - Ênfase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3296810-A885-4BE3-A3E7-6D5BEEA58F35}" styleName="Estilo Médio 2 - Ênfase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1FECB4D8-DB02-4DC6-A0A2-4F2EBAE1DC90}" styleName="Estilo Médio 1 - Ênfase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0A1B5D5-9B99-4C35-A422-299274C87663}" styleName="Estilo Médio 1 - Ênfase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E8B1032C-EA38-4F05-BA0D-38AFFFC7BED3}" styleName="Estilo Claro 3 - Ênfase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799B23B-EC83-4686-B30A-512413B5E67A}" styleName="Estilo Claro 3 - Ênfas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DA37D80-6434-44D0-A028-1B22A696006F}" styleName="Estilo Claro 3 - Ênfase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0" d="100"/>
          <a:sy n="50" d="100"/>
        </p:scale>
        <p:origin x="1164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alison Claudino Martins do Nascimento" userId="1bf49b2d-35dd-4603-b128-08dab7d336f1" providerId="ADAL" clId="{AF1BA714-5D30-460E-BF17-93D7C12114F0}"/>
    <pc:docChg chg="custSel modSld">
      <pc:chgData name="Talison Claudino Martins do Nascimento" userId="1bf49b2d-35dd-4603-b128-08dab7d336f1" providerId="ADAL" clId="{AF1BA714-5D30-460E-BF17-93D7C12114F0}" dt="2026-10-27T13:54:21.531" v="13" actId="14100"/>
      <pc:docMkLst>
        <pc:docMk/>
      </pc:docMkLst>
      <pc:sldChg chg="addSp delSp modSp mod">
        <pc:chgData name="Talison Claudino Martins do Nascimento" userId="1bf49b2d-35dd-4603-b128-08dab7d336f1" providerId="ADAL" clId="{AF1BA714-5D30-460E-BF17-93D7C12114F0}" dt="2026-10-27T13:54:21.531" v="13" actId="14100"/>
        <pc:sldMkLst>
          <pc:docMk/>
          <pc:sldMk cId="2665903669" sldId="451"/>
        </pc:sldMkLst>
        <pc:graphicFrameChg chg="del">
          <ac:chgData name="Talison Claudino Martins do Nascimento" userId="1bf49b2d-35dd-4603-b128-08dab7d336f1" providerId="ADAL" clId="{AF1BA714-5D30-460E-BF17-93D7C12114F0}" dt="2026-10-27T13:53:52.096" v="6" actId="478"/>
          <ac:graphicFrameMkLst>
            <pc:docMk/>
            <pc:sldMk cId="2665903669" sldId="451"/>
            <ac:graphicFrameMk id="2" creationId="{7BFC7B4B-E03C-5571-B267-8CB3EA73B601}"/>
          </ac:graphicFrameMkLst>
        </pc:graphicFrameChg>
        <pc:graphicFrameChg chg="add mod">
          <ac:chgData name="Talison Claudino Martins do Nascimento" userId="1bf49b2d-35dd-4603-b128-08dab7d336f1" providerId="ADAL" clId="{AF1BA714-5D30-460E-BF17-93D7C12114F0}" dt="2026-10-27T13:54:21.531" v="13" actId="14100"/>
          <ac:graphicFrameMkLst>
            <pc:docMk/>
            <pc:sldMk cId="2665903669" sldId="451"/>
            <ac:graphicFrameMk id="3" creationId="{7BFC7B4B-E03C-5571-B267-8CB3EA73B601}"/>
          </ac:graphicFrameMkLst>
        </pc:graphicFrameChg>
        <pc:picChg chg="del">
          <ac:chgData name="Talison Claudino Martins do Nascimento" userId="1bf49b2d-35dd-4603-b128-08dab7d336f1" providerId="ADAL" clId="{AF1BA714-5D30-460E-BF17-93D7C12114F0}" dt="2026-10-27T13:54:14.315" v="11" actId="478"/>
          <ac:picMkLst>
            <pc:docMk/>
            <pc:sldMk cId="2665903669" sldId="451"/>
            <ac:picMk id="7" creationId="{F935D58C-9D40-745D-F9CE-CA99C186A8C4}"/>
          </ac:picMkLst>
        </pc:picChg>
      </pc:sldChg>
      <pc:sldChg chg="modSp mod">
        <pc:chgData name="Talison Claudino Martins do Nascimento" userId="1bf49b2d-35dd-4603-b128-08dab7d336f1" providerId="ADAL" clId="{AF1BA714-5D30-460E-BF17-93D7C12114F0}" dt="2026-10-27T13:51:59.029" v="5" actId="20577"/>
        <pc:sldMkLst>
          <pc:docMk/>
          <pc:sldMk cId="4034180360" sldId="461"/>
        </pc:sldMkLst>
        <pc:graphicFrameChg chg="modGraphic">
          <ac:chgData name="Talison Claudino Martins do Nascimento" userId="1bf49b2d-35dd-4603-b128-08dab7d336f1" providerId="ADAL" clId="{AF1BA714-5D30-460E-BF17-93D7C12114F0}" dt="2026-10-27T13:51:59.029" v="5" actId="20577"/>
          <ac:graphicFrameMkLst>
            <pc:docMk/>
            <pc:sldMk cId="4034180360" sldId="461"/>
            <ac:graphicFrameMk id="18" creationId="{05C6D86D-AEC3-A9B4-E234-D74939C6F2CB}"/>
          </ac:graphicFrameMkLst>
        </pc:graphicFrameChg>
      </pc:sldChg>
    </pc:docChg>
  </pc:docChgLst>
</pc:chgInfo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https://andradegutierrez365-my.sharepoint.com/personal/giulia_picciano_agnet_com_br/Documents/!RNEST%20-%20UDA/PCP%20-%20CIV,%20ISO%20E%20PINT%20UDA%20RNEST/0.%20PLANILHA%20DE%20CONTROLE%20CIV,%20ISO%20E%20PINT/ISOLAMENTO/CURVA%20ISOLAMENTO%20TUBULA&#199;&#195;O/CURVA%25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BR"/>
  <c:roundedCorners val="0"/>
  <c:style val="2"/>
  <c:chart>
    <c:autoTitleDeleted val="1"/>
    <c:plotArea>
      <c:layout>
        <c:manualLayout>
          <c:layoutTarget val="inner"/>
          <c:xMode val="edge"/>
          <c:yMode val="edge"/>
          <c:x val="0.13"/>
          <c:y val="0.01"/>
          <c:w val="0.55000000000000004"/>
          <c:h val="0.98"/>
        </c:manualLayout>
      </c:layout>
      <c:barChart>
        <c:barDir val="bar"/>
        <c:grouping val="clustered"/>
        <c:varyColors val="0"/>
        <c:ser>
          <c:idx val="0"/>
          <c:order val="0"/>
          <c:tx>
            <c:v>Total</c:v>
          </c:tx>
          <c:spPr>
            <a:solidFill>
              <a:srgbClr val="E6E8EC"/>
            </a:solidFill>
            <a:ln>
              <a:noFill/>
            </a:ln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900" b="1">
                        <a:solidFill>
                          <a:srgbClr val="9A7D0A"/>
                        </a:solidFill>
                        <a:latin typeface="Aptos"/>
                      </a:rPr>
                      <a:t>74,8%</a:t>
                    </a:r>
                    <a:r>
                      <a:rPr lang="en-US" sz="900" b="0">
                        <a:solidFill>
                          <a:srgbClr val="595959"/>
                        </a:solidFill>
                        <a:latin typeface="Aptos"/>
                      </a:rPr>
                      <a:t>    1.640,00 / 2.192,31 m²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423A-4669-A596-260E420E256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900" b="1">
                        <a:solidFill>
                          <a:srgbClr val="9A7D0A"/>
                        </a:solidFill>
                        <a:latin typeface="Aptos"/>
                      </a:rPr>
                      <a:t>0,0%</a:t>
                    </a:r>
                    <a:r>
                      <a:rPr lang="en-US" sz="900" b="0">
                        <a:solidFill>
                          <a:srgbClr val="595959"/>
                        </a:solidFill>
                        <a:latin typeface="Aptos"/>
                      </a:rPr>
                      <a:t>    0,00 / 416,90 m²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423A-4669-A596-260E420E2567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900" b="1">
                        <a:solidFill>
                          <a:srgbClr val="9A7D0A"/>
                        </a:solidFill>
                        <a:latin typeface="Aptos"/>
                      </a:rPr>
                      <a:t>98,6%</a:t>
                    </a:r>
                    <a:r>
                      <a:rPr lang="en-US" sz="900" b="0">
                        <a:solidFill>
                          <a:srgbClr val="595959"/>
                        </a:solidFill>
                        <a:latin typeface="Aptos"/>
                      </a:rPr>
                      <a:t>    284,30 / 288,30 m²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423A-4669-A596-260E420E2567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900" b="1">
                        <a:solidFill>
                          <a:srgbClr val="9A7D0A"/>
                        </a:solidFill>
                        <a:latin typeface="Aptos"/>
                      </a:rPr>
                      <a:t>52,6%</a:t>
                    </a:r>
                    <a:r>
                      <a:rPr lang="en-US" sz="900" b="0">
                        <a:solidFill>
                          <a:srgbClr val="595959"/>
                        </a:solidFill>
                        <a:latin typeface="Aptos"/>
                      </a:rPr>
                      <a:t>    635,00 / 1.207,00 m²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423A-4669-A596-260E420E256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900" b="1">
                        <a:solidFill>
                          <a:srgbClr val="9A7D0A"/>
                        </a:solidFill>
                        <a:latin typeface="Aptos"/>
                      </a:rPr>
                      <a:t>0,0%</a:t>
                    </a:r>
                    <a:r>
                      <a:rPr lang="en-US" sz="900" b="0">
                        <a:solidFill>
                          <a:srgbClr val="595959"/>
                        </a:solidFill>
                        <a:latin typeface="Aptos"/>
                      </a:rPr>
                      <a:t>    0,00 / 12,33 m²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423A-4669-A596-260E420E2567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900" b="1">
                        <a:solidFill>
                          <a:srgbClr val="9A7D0A"/>
                        </a:solidFill>
                        <a:latin typeface="Aptos"/>
                      </a:rPr>
                      <a:t>0,0%</a:t>
                    </a:r>
                    <a:r>
                      <a:rPr lang="en-US" sz="900" b="0">
                        <a:solidFill>
                          <a:srgbClr val="595959"/>
                        </a:solidFill>
                        <a:latin typeface="Aptos"/>
                      </a:rPr>
                      <a:t>    0,00 / 228,18 m²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423A-4669-A596-260E420E2567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900" b="1">
                        <a:solidFill>
                          <a:srgbClr val="9A7D0A"/>
                        </a:solidFill>
                        <a:latin typeface="Aptos"/>
                      </a:rPr>
                      <a:t>90,5%</a:t>
                    </a:r>
                    <a:r>
                      <a:rPr lang="en-US" sz="900" b="0">
                        <a:solidFill>
                          <a:srgbClr val="595959"/>
                        </a:solidFill>
                        <a:latin typeface="Aptos"/>
                      </a:rPr>
                      <a:t>    19,00 / 21,00 m²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423A-4669-A596-260E420E2567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900" b="1">
                        <a:solidFill>
                          <a:srgbClr val="9A7D0A"/>
                        </a:solidFill>
                        <a:latin typeface="Aptos"/>
                      </a:rPr>
                      <a:t>60,0%</a:t>
                    </a:r>
                    <a:r>
                      <a:rPr lang="en-US" sz="900" b="0">
                        <a:solidFill>
                          <a:srgbClr val="595959"/>
                        </a:solidFill>
                        <a:latin typeface="Aptos"/>
                      </a:rPr>
                      <a:t>    130,00 / 216,63 m²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423A-4669-A596-260E420E2567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 sz="900" b="1">
                        <a:solidFill>
                          <a:srgbClr val="9A7D0A"/>
                        </a:solidFill>
                        <a:latin typeface="Aptos"/>
                      </a:rPr>
                      <a:t>20,8%</a:t>
                    </a:r>
                    <a:r>
                      <a:rPr lang="en-US" sz="900" b="0">
                        <a:solidFill>
                          <a:srgbClr val="595959"/>
                        </a:solidFill>
                        <a:latin typeface="Aptos"/>
                      </a:rPr>
                      <a:t>    42,00 / 201,76 m²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423A-4669-A596-260E420E2567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rPr lang="en-US" sz="900" b="1">
                        <a:solidFill>
                          <a:srgbClr val="9A7D0A"/>
                        </a:solidFill>
                        <a:latin typeface="Aptos"/>
                      </a:rPr>
                      <a:t>32,3%</a:t>
                    </a:r>
                    <a:r>
                      <a:rPr lang="en-US" sz="900" b="0">
                        <a:solidFill>
                          <a:srgbClr val="595959"/>
                        </a:solidFill>
                        <a:latin typeface="Aptos"/>
                      </a:rPr>
                      <a:t>    47,24 / 146,48 m²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423A-4669-A596-260E420E2567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rPr lang="en-US" sz="900" b="1">
                        <a:solidFill>
                          <a:srgbClr val="2E7D32"/>
                        </a:solidFill>
                        <a:latin typeface="Aptos"/>
                      </a:rPr>
                      <a:t>100,0%</a:t>
                    </a:r>
                    <a:r>
                      <a:rPr lang="en-US" sz="900" b="0">
                        <a:solidFill>
                          <a:srgbClr val="595959"/>
                        </a:solidFill>
                        <a:latin typeface="Aptos"/>
                      </a:rPr>
                      <a:t>    11,23 / 11,23 m²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423A-4669-A596-260E420E2567}"/>
                </c:ext>
              </c:extLst>
            </c:dLbl>
            <c:spPr>
              <a:noFill/>
              <a:ln>
                <a:noFill/>
              </a:ln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11"/>
              <c:pt idx="0">
                <c:v>Área 110</c:v>
              </c:pt>
              <c:pt idx="1">
                <c:v>Área 120</c:v>
              </c:pt>
              <c:pt idx="2">
                <c:v>Área 130</c:v>
              </c:pt>
              <c:pt idx="3">
                <c:v>Área 140</c:v>
              </c:pt>
              <c:pt idx="4">
                <c:v>Área 210</c:v>
              </c:pt>
              <c:pt idx="5">
                <c:v>Área 220</c:v>
              </c:pt>
              <c:pt idx="6">
                <c:v>Área 230</c:v>
              </c:pt>
              <c:pt idx="7">
                <c:v>Área 240</c:v>
              </c:pt>
              <c:pt idx="8">
                <c:v>Área 250</c:v>
              </c:pt>
              <c:pt idx="9">
                <c:v>Área 260</c:v>
              </c:pt>
              <c:pt idx="10">
                <c:v>Área 410</c:v>
              </c:pt>
            </c:strLit>
          </c:cat>
          <c:val>
            <c:numLit>
              <c:formatCode>0.0</c:formatCode>
              <c:ptCount val="11"/>
              <c:pt idx="0">
                <c:v>100</c:v>
              </c:pt>
              <c:pt idx="1">
                <c:v>100</c:v>
              </c:pt>
              <c:pt idx="2">
                <c:v>100</c:v>
              </c:pt>
              <c:pt idx="3">
                <c:v>100</c:v>
              </c:pt>
              <c:pt idx="4">
                <c:v>100</c:v>
              </c:pt>
              <c:pt idx="5">
                <c:v>100</c:v>
              </c:pt>
              <c:pt idx="6">
                <c:v>100</c:v>
              </c:pt>
              <c:pt idx="7">
                <c:v>100</c:v>
              </c:pt>
              <c:pt idx="8">
                <c:v>100</c:v>
              </c:pt>
              <c:pt idx="9">
                <c:v>100</c:v>
              </c:pt>
              <c:pt idx="10">
                <c:v>100</c:v>
              </c:pt>
            </c:numLit>
          </c:val>
          <c:extLst>
            <c:ext xmlns:c16="http://schemas.microsoft.com/office/drawing/2014/chart" uri="{C3380CC4-5D6E-409C-BE32-E72D297353CC}">
              <c16:uniqueId val="{0000000B-423A-4669-A596-260E420E2567}"/>
            </c:ext>
          </c:extLst>
        </c:ser>
        <c:ser>
          <c:idx val="1"/>
          <c:order val="1"/>
          <c:tx>
            <c:v>Executado</c:v>
          </c:tx>
          <c:spPr>
            <a:solidFill>
              <a:srgbClr val="D9C56B"/>
            </a:solidFill>
            <a:ln>
              <a:noFill/>
            </a:ln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D-423A-4669-A596-260E420E2567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F-423A-4669-A596-260E420E2567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1-423A-4669-A596-260E420E2567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3-423A-4669-A596-260E420E2567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5-423A-4669-A596-260E420E2567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7-423A-4669-A596-260E420E2567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9-423A-4669-A596-260E420E2567}"/>
              </c:ext>
            </c:extLst>
          </c:dPt>
          <c:dPt>
            <c:idx val="7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B-423A-4669-A596-260E420E2567}"/>
              </c:ext>
            </c:extLst>
          </c:dPt>
          <c:dPt>
            <c:idx val="8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D-423A-4669-A596-260E420E2567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F-423A-4669-A596-260E420E2567}"/>
              </c:ext>
            </c:extLst>
          </c:dPt>
          <c:dPt>
            <c:idx val="10"/>
            <c:invertIfNegative val="0"/>
            <c:bubble3D val="0"/>
            <c:spPr>
              <a:solidFill>
                <a:srgbClr val="A9D5A3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21-423A-4669-A596-260E420E2567}"/>
              </c:ext>
            </c:extLst>
          </c:dPt>
          <c:cat>
            <c:strLit>
              <c:ptCount val="11"/>
              <c:pt idx="0">
                <c:v>Área 110</c:v>
              </c:pt>
              <c:pt idx="1">
                <c:v>Área 120</c:v>
              </c:pt>
              <c:pt idx="2">
                <c:v>Área 130</c:v>
              </c:pt>
              <c:pt idx="3">
                <c:v>Área 140</c:v>
              </c:pt>
              <c:pt idx="4">
                <c:v>Área 210</c:v>
              </c:pt>
              <c:pt idx="5">
                <c:v>Área 220</c:v>
              </c:pt>
              <c:pt idx="6">
                <c:v>Área 230</c:v>
              </c:pt>
              <c:pt idx="7">
                <c:v>Área 240</c:v>
              </c:pt>
              <c:pt idx="8">
                <c:v>Área 250</c:v>
              </c:pt>
              <c:pt idx="9">
                <c:v>Área 260</c:v>
              </c:pt>
              <c:pt idx="10">
                <c:v>Área 410</c:v>
              </c:pt>
            </c:strLit>
          </c:cat>
          <c:val>
            <c:numLit>
              <c:formatCode>0.0</c:formatCode>
              <c:ptCount val="11"/>
              <c:pt idx="0">
                <c:v>74.8</c:v>
              </c:pt>
              <c:pt idx="1">
                <c:v>0</c:v>
              </c:pt>
              <c:pt idx="2">
                <c:v>98.6</c:v>
              </c:pt>
              <c:pt idx="3">
                <c:v>52.6</c:v>
              </c:pt>
              <c:pt idx="4">
                <c:v>0</c:v>
              </c:pt>
              <c:pt idx="5">
                <c:v>0</c:v>
              </c:pt>
              <c:pt idx="6">
                <c:v>90.5</c:v>
              </c:pt>
              <c:pt idx="7">
                <c:v>60</c:v>
              </c:pt>
              <c:pt idx="8">
                <c:v>20.8</c:v>
              </c:pt>
              <c:pt idx="9">
                <c:v>32.299999999999997</c:v>
              </c:pt>
              <c:pt idx="10">
                <c:v>100</c:v>
              </c:pt>
            </c:numLit>
          </c:val>
          <c:extLst>
            <c:ext xmlns:c16="http://schemas.microsoft.com/office/drawing/2014/chart" uri="{C3380CC4-5D6E-409C-BE32-E72D297353CC}">
              <c16:uniqueId val="{00000022-423A-4669-A596-260E420E25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5"/>
        <c:overlap val="100"/>
        <c:axId val="111"/>
        <c:axId val="222"/>
      </c:barChart>
      <c:catAx>
        <c:axId val="111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404040"/>
                </a:solidFill>
                <a:latin typeface="Aptos"/>
              </a:defRPr>
            </a:pPr>
            <a:endParaRPr lang="pt-BR"/>
          </a:p>
        </c:txPr>
        <c:crossAx val="222"/>
        <c:crosses val="autoZero"/>
        <c:auto val="1"/>
        <c:lblAlgn val="ctr"/>
        <c:lblOffset val="100"/>
        <c:noMultiLvlLbl val="0"/>
      </c:catAx>
      <c:valAx>
        <c:axId val="222"/>
        <c:scaling>
          <c:orientation val="minMax"/>
          <c:max val="100"/>
          <c:min val="0"/>
        </c:scaling>
        <c:delete val="1"/>
        <c:axPos val="t"/>
        <c:numFmt formatCode="0" sourceLinked="0"/>
        <c:majorTickMark val="none"/>
        <c:minorTickMark val="none"/>
        <c:tickLblPos val="nextTo"/>
        <c:crossAx val="11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  <c:txPr>
    <a:bodyPr/>
    <a:lstStyle/>
    <a:p>
      <a:pPr>
        <a:defRPr sz="900">
          <a:latin typeface="Aptos"/>
        </a:defRPr>
      </a:pPr>
      <a:endParaRPr lang="pt-BR"/>
    </a:p>
  </c:tx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Avanço por SOP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t-BR"/>
        </a:p>
      </c:txPr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'[CURVA ISOLAMENTO TUBULAÇÃO_STH_REUNIAO_COORDENAÇÃO.xlsx]Avanço por SOP'!$AB$3</c:f>
              <c:strCache>
                <c:ptCount val="1"/>
                <c:pt idx="0">
                  <c:v>Concluído</c:v>
                </c:pt>
              </c:strCache>
            </c:strRef>
          </c:tx>
          <c:spPr>
            <a:solidFill>
              <a:srgbClr val="A9D18E"/>
            </a:solidFill>
            <a:ln w="25400">
              <a:noFill/>
            </a:ln>
            <a:effectLst/>
          </c:spPr>
          <c:invertIfNegative val="0"/>
          <c:cat>
            <c:strRef>
              <c:f>'[CURVA ISOLAMENTO TUBULAÇÃO_STH_REUNIAO_COORDENAÇÃO.xlsx]Avanço por SOP'!$AA$4:$AA$48</c:f>
              <c:strCache>
                <c:ptCount val="43"/>
                <c:pt idx="0">
                  <c:v>0012-0001-0069</c:v>
                </c:pt>
                <c:pt idx="1">
                  <c:v>0012-0023-0009</c:v>
                </c:pt>
                <c:pt idx="2">
                  <c:v>0012-0039-0012</c:v>
                </c:pt>
                <c:pt idx="3">
                  <c:v>0012-0040-0013</c:v>
                </c:pt>
                <c:pt idx="4">
                  <c:v>0012-0043-0015</c:v>
                </c:pt>
                <c:pt idx="5">
                  <c:v>0012-0045-0031</c:v>
                </c:pt>
                <c:pt idx="6">
                  <c:v>0012-0050-0048</c:v>
                </c:pt>
                <c:pt idx="7">
                  <c:v>0012-0050-0050</c:v>
                </c:pt>
                <c:pt idx="8">
                  <c:v>0012-0050-0051</c:v>
                </c:pt>
                <c:pt idx="9">
                  <c:v>0012-0052-0017</c:v>
                </c:pt>
                <c:pt idx="10">
                  <c:v>0012-0060-0016</c:v>
                </c:pt>
                <c:pt idx="11">
                  <c:v>0012-0060-0019</c:v>
                </c:pt>
                <c:pt idx="12">
                  <c:v>0012-0061-0020</c:v>
                </c:pt>
                <c:pt idx="13">
                  <c:v>0012-0062-0039</c:v>
                </c:pt>
                <c:pt idx="14">
                  <c:v>0012-0063-0021</c:v>
                </c:pt>
                <c:pt idx="15">
                  <c:v>0012-0066-0065</c:v>
                </c:pt>
                <c:pt idx="16">
                  <c:v>0012-0081-0025</c:v>
                </c:pt>
                <c:pt idx="17">
                  <c:v>0012-0081-0063</c:v>
                </c:pt>
                <c:pt idx="18">
                  <c:v>0012-0082-0026</c:v>
                </c:pt>
                <c:pt idx="19">
                  <c:v>0012-0084-0027</c:v>
                </c:pt>
                <c:pt idx="20">
                  <c:v>0012-0085-0028</c:v>
                </c:pt>
                <c:pt idx="21">
                  <c:v>0012-0088-0029</c:v>
                </c:pt>
                <c:pt idx="22">
                  <c:v>0012-0096-0030</c:v>
                </c:pt>
                <c:pt idx="23">
                  <c:v>0012-0101-0032</c:v>
                </c:pt>
                <c:pt idx="24">
                  <c:v>0012-0102-0033</c:v>
                </c:pt>
                <c:pt idx="25">
                  <c:v>0012-0104-0035</c:v>
                </c:pt>
                <c:pt idx="26">
                  <c:v>0012-0105-0036</c:v>
                </c:pt>
                <c:pt idx="27">
                  <c:v>0012-0106-0037</c:v>
                </c:pt>
                <c:pt idx="28">
                  <c:v>0012-0107-0038</c:v>
                </c:pt>
                <c:pt idx="29">
                  <c:v>0012-0109-0040</c:v>
                </c:pt>
                <c:pt idx="30">
                  <c:v>0012-0110-0041</c:v>
                </c:pt>
                <c:pt idx="31">
                  <c:v>0012-0111-0042</c:v>
                </c:pt>
                <c:pt idx="32">
                  <c:v>0012-0112-0043</c:v>
                </c:pt>
                <c:pt idx="33">
                  <c:v>0012-0113-0044</c:v>
                </c:pt>
                <c:pt idx="34">
                  <c:v>0012-0114-0045</c:v>
                </c:pt>
                <c:pt idx="35">
                  <c:v>0012-0115-0046</c:v>
                </c:pt>
                <c:pt idx="36">
                  <c:v>0012-0118-0049</c:v>
                </c:pt>
                <c:pt idx="37">
                  <c:v>0012-0124-0055</c:v>
                </c:pt>
                <c:pt idx="38">
                  <c:v>0012-0129-0062</c:v>
                </c:pt>
                <c:pt idx="39">
                  <c:v>0012-0131-0064</c:v>
                </c:pt>
                <c:pt idx="40">
                  <c:v>0012-0133-0066</c:v>
                </c:pt>
                <c:pt idx="41">
                  <c:v>0012-0136-0070</c:v>
                </c:pt>
                <c:pt idx="42">
                  <c:v>1200-5550-0016</c:v>
                </c:pt>
              </c:strCache>
              <c:extLst/>
            </c:strRef>
          </c:cat>
          <c:val>
            <c:numRef>
              <c:f>'[CURVA ISOLAMENTO TUBULAÇÃO_STH_REUNIAO_COORDENAÇÃO.xlsx]Avanço por SOP'!$AB$4:$AB$48</c:f>
              <c:numCache>
                <c:formatCode>0.0%</c:formatCode>
                <c:ptCount val="4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0-3E2C-4E16-BF92-9663EE46DEFA}"/>
            </c:ext>
          </c:extLst>
        </c:ser>
        <c:ser>
          <c:idx val="1"/>
          <c:order val="1"/>
          <c:tx>
            <c:strRef>
              <c:f>'[CURVA ISOLAMENTO TUBULAÇÃO_STH_REUNIAO_COORDENAÇÃO.xlsx]Avanço por SOP'!$AC$3</c:f>
              <c:strCache>
                <c:ptCount val="1"/>
                <c:pt idx="0">
                  <c:v>Em andamento</c:v>
                </c:pt>
              </c:strCache>
            </c:strRef>
          </c:tx>
          <c:spPr>
            <a:solidFill>
              <a:srgbClr val="DCCB6E"/>
            </a:solidFill>
            <a:ln w="25400">
              <a:noFill/>
            </a:ln>
            <a:effectLst/>
          </c:spPr>
          <c:invertIfNegative val="0"/>
          <c:cat>
            <c:strRef>
              <c:f>'[CURVA ISOLAMENTO TUBULAÇÃO_STH_REUNIAO_COORDENAÇÃO.xlsx]Avanço por SOP'!$AA$4:$AA$48</c:f>
              <c:strCache>
                <c:ptCount val="43"/>
                <c:pt idx="0">
                  <c:v>0012-0001-0069</c:v>
                </c:pt>
                <c:pt idx="1">
                  <c:v>0012-0023-0009</c:v>
                </c:pt>
                <c:pt idx="2">
                  <c:v>0012-0039-0012</c:v>
                </c:pt>
                <c:pt idx="3">
                  <c:v>0012-0040-0013</c:v>
                </c:pt>
                <c:pt idx="4">
                  <c:v>0012-0043-0015</c:v>
                </c:pt>
                <c:pt idx="5">
                  <c:v>0012-0045-0031</c:v>
                </c:pt>
                <c:pt idx="6">
                  <c:v>0012-0050-0048</c:v>
                </c:pt>
                <c:pt idx="7">
                  <c:v>0012-0050-0050</c:v>
                </c:pt>
                <c:pt idx="8">
                  <c:v>0012-0050-0051</c:v>
                </c:pt>
                <c:pt idx="9">
                  <c:v>0012-0052-0017</c:v>
                </c:pt>
                <c:pt idx="10">
                  <c:v>0012-0060-0016</c:v>
                </c:pt>
                <c:pt idx="11">
                  <c:v>0012-0060-0019</c:v>
                </c:pt>
                <c:pt idx="12">
                  <c:v>0012-0061-0020</c:v>
                </c:pt>
                <c:pt idx="13">
                  <c:v>0012-0062-0039</c:v>
                </c:pt>
                <c:pt idx="14">
                  <c:v>0012-0063-0021</c:v>
                </c:pt>
                <c:pt idx="15">
                  <c:v>0012-0066-0065</c:v>
                </c:pt>
                <c:pt idx="16">
                  <c:v>0012-0081-0025</c:v>
                </c:pt>
                <c:pt idx="17">
                  <c:v>0012-0081-0063</c:v>
                </c:pt>
                <c:pt idx="18">
                  <c:v>0012-0082-0026</c:v>
                </c:pt>
                <c:pt idx="19">
                  <c:v>0012-0084-0027</c:v>
                </c:pt>
                <c:pt idx="20">
                  <c:v>0012-0085-0028</c:v>
                </c:pt>
                <c:pt idx="21">
                  <c:v>0012-0088-0029</c:v>
                </c:pt>
                <c:pt idx="22">
                  <c:v>0012-0096-0030</c:v>
                </c:pt>
                <c:pt idx="23">
                  <c:v>0012-0101-0032</c:v>
                </c:pt>
                <c:pt idx="24">
                  <c:v>0012-0102-0033</c:v>
                </c:pt>
                <c:pt idx="25">
                  <c:v>0012-0104-0035</c:v>
                </c:pt>
                <c:pt idx="26">
                  <c:v>0012-0105-0036</c:v>
                </c:pt>
                <c:pt idx="27">
                  <c:v>0012-0106-0037</c:v>
                </c:pt>
                <c:pt idx="28">
                  <c:v>0012-0107-0038</c:v>
                </c:pt>
                <c:pt idx="29">
                  <c:v>0012-0109-0040</c:v>
                </c:pt>
                <c:pt idx="30">
                  <c:v>0012-0110-0041</c:v>
                </c:pt>
                <c:pt idx="31">
                  <c:v>0012-0111-0042</c:v>
                </c:pt>
                <c:pt idx="32">
                  <c:v>0012-0112-0043</c:v>
                </c:pt>
                <c:pt idx="33">
                  <c:v>0012-0113-0044</c:v>
                </c:pt>
                <c:pt idx="34">
                  <c:v>0012-0114-0045</c:v>
                </c:pt>
                <c:pt idx="35">
                  <c:v>0012-0115-0046</c:v>
                </c:pt>
                <c:pt idx="36">
                  <c:v>0012-0118-0049</c:v>
                </c:pt>
                <c:pt idx="37">
                  <c:v>0012-0124-0055</c:v>
                </c:pt>
                <c:pt idx="38">
                  <c:v>0012-0129-0062</c:v>
                </c:pt>
                <c:pt idx="39">
                  <c:v>0012-0131-0064</c:v>
                </c:pt>
                <c:pt idx="40">
                  <c:v>0012-0133-0066</c:v>
                </c:pt>
                <c:pt idx="41">
                  <c:v>0012-0136-0070</c:v>
                </c:pt>
                <c:pt idx="42">
                  <c:v>1200-5550-0016</c:v>
                </c:pt>
              </c:strCache>
              <c:extLst/>
            </c:strRef>
          </c:cat>
          <c:val>
            <c:numRef>
              <c:f>'[CURVA ISOLAMENTO TUBULAÇÃO_STH_REUNIAO_COORDENAÇÃO.xlsx]Avanço por SOP'!$AC$4:$AC$48</c:f>
              <c:numCache>
                <c:formatCode>0.0%</c:formatCode>
                <c:ptCount val="43"/>
                <c:pt idx="0">
                  <c:v>0</c:v>
                </c:pt>
                <c:pt idx="1">
                  <c:v>0</c:v>
                </c:pt>
                <c:pt idx="2">
                  <c:v>0.10914232230705373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0.41986883971211469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6.7910776025455286E-3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2.6714856674960812E-2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0.74125163110398573</c:v>
                </c:pt>
                <c:pt idx="29">
                  <c:v>0.20148830954293226</c:v>
                </c:pt>
                <c:pt idx="30">
                  <c:v>0.25590924046008195</c:v>
                </c:pt>
                <c:pt idx="31">
                  <c:v>0.36401979639605553</c:v>
                </c:pt>
                <c:pt idx="32">
                  <c:v>0.25522292384533313</c:v>
                </c:pt>
                <c:pt idx="33">
                  <c:v>0</c:v>
                </c:pt>
                <c:pt idx="34">
                  <c:v>0.59103118753693984</c:v>
                </c:pt>
                <c:pt idx="35">
                  <c:v>0.94653526493610229</c:v>
                </c:pt>
                <c:pt idx="36">
                  <c:v>0.59333341425464192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0.73665205337198092</c:v>
                </c:pt>
                <c:pt idx="42">
                  <c:v>0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1-3E2C-4E16-BF92-9663EE46DEFA}"/>
            </c:ext>
          </c:extLst>
        </c:ser>
        <c:ser>
          <c:idx val="2"/>
          <c:order val="2"/>
          <c:tx>
            <c:strRef>
              <c:f>'[CURVA ISOLAMENTO TUBULAÇÃO_STH_REUNIAO_COORDENAÇÃO.xlsx]Avanço por SOP'!$AD$3</c:f>
              <c:strCache>
                <c:ptCount val="1"/>
                <c:pt idx="0">
                  <c:v>Restante</c:v>
                </c:pt>
              </c:strCache>
            </c:strRef>
          </c:tx>
          <c:spPr>
            <a:solidFill>
              <a:srgbClr val="E3E6EA"/>
            </a:solidFill>
            <a:ln w="25400">
              <a:noFill/>
            </a:ln>
            <a:effectLst/>
          </c:spPr>
          <c:invertIfNegative val="0"/>
          <c:cat>
            <c:strRef>
              <c:f>'[CURVA ISOLAMENTO TUBULAÇÃO_STH_REUNIAO_COORDENAÇÃO.xlsx]Avanço por SOP'!$AA$4:$AA$48</c:f>
              <c:strCache>
                <c:ptCount val="43"/>
                <c:pt idx="0">
                  <c:v>0012-0001-0069</c:v>
                </c:pt>
                <c:pt idx="1">
                  <c:v>0012-0023-0009</c:v>
                </c:pt>
                <c:pt idx="2">
                  <c:v>0012-0039-0012</c:v>
                </c:pt>
                <c:pt idx="3">
                  <c:v>0012-0040-0013</c:v>
                </c:pt>
                <c:pt idx="4">
                  <c:v>0012-0043-0015</c:v>
                </c:pt>
                <c:pt idx="5">
                  <c:v>0012-0045-0031</c:v>
                </c:pt>
                <c:pt idx="6">
                  <c:v>0012-0050-0048</c:v>
                </c:pt>
                <c:pt idx="7">
                  <c:v>0012-0050-0050</c:v>
                </c:pt>
                <c:pt idx="8">
                  <c:v>0012-0050-0051</c:v>
                </c:pt>
                <c:pt idx="9">
                  <c:v>0012-0052-0017</c:v>
                </c:pt>
                <c:pt idx="10">
                  <c:v>0012-0060-0016</c:v>
                </c:pt>
                <c:pt idx="11">
                  <c:v>0012-0060-0019</c:v>
                </c:pt>
                <c:pt idx="12">
                  <c:v>0012-0061-0020</c:v>
                </c:pt>
                <c:pt idx="13">
                  <c:v>0012-0062-0039</c:v>
                </c:pt>
                <c:pt idx="14">
                  <c:v>0012-0063-0021</c:v>
                </c:pt>
                <c:pt idx="15">
                  <c:v>0012-0066-0065</c:v>
                </c:pt>
                <c:pt idx="16">
                  <c:v>0012-0081-0025</c:v>
                </c:pt>
                <c:pt idx="17">
                  <c:v>0012-0081-0063</c:v>
                </c:pt>
                <c:pt idx="18">
                  <c:v>0012-0082-0026</c:v>
                </c:pt>
                <c:pt idx="19">
                  <c:v>0012-0084-0027</c:v>
                </c:pt>
                <c:pt idx="20">
                  <c:v>0012-0085-0028</c:v>
                </c:pt>
                <c:pt idx="21">
                  <c:v>0012-0088-0029</c:v>
                </c:pt>
                <c:pt idx="22">
                  <c:v>0012-0096-0030</c:v>
                </c:pt>
                <c:pt idx="23">
                  <c:v>0012-0101-0032</c:v>
                </c:pt>
                <c:pt idx="24">
                  <c:v>0012-0102-0033</c:v>
                </c:pt>
                <c:pt idx="25">
                  <c:v>0012-0104-0035</c:v>
                </c:pt>
                <c:pt idx="26">
                  <c:v>0012-0105-0036</c:v>
                </c:pt>
                <c:pt idx="27">
                  <c:v>0012-0106-0037</c:v>
                </c:pt>
                <c:pt idx="28">
                  <c:v>0012-0107-0038</c:v>
                </c:pt>
                <c:pt idx="29">
                  <c:v>0012-0109-0040</c:v>
                </c:pt>
                <c:pt idx="30">
                  <c:v>0012-0110-0041</c:v>
                </c:pt>
                <c:pt idx="31">
                  <c:v>0012-0111-0042</c:v>
                </c:pt>
                <c:pt idx="32">
                  <c:v>0012-0112-0043</c:v>
                </c:pt>
                <c:pt idx="33">
                  <c:v>0012-0113-0044</c:v>
                </c:pt>
                <c:pt idx="34">
                  <c:v>0012-0114-0045</c:v>
                </c:pt>
                <c:pt idx="35">
                  <c:v>0012-0115-0046</c:v>
                </c:pt>
                <c:pt idx="36">
                  <c:v>0012-0118-0049</c:v>
                </c:pt>
                <c:pt idx="37">
                  <c:v>0012-0124-0055</c:v>
                </c:pt>
                <c:pt idx="38">
                  <c:v>0012-0129-0062</c:v>
                </c:pt>
                <c:pt idx="39">
                  <c:v>0012-0131-0064</c:v>
                </c:pt>
                <c:pt idx="40">
                  <c:v>0012-0133-0066</c:v>
                </c:pt>
                <c:pt idx="41">
                  <c:v>0012-0136-0070</c:v>
                </c:pt>
                <c:pt idx="42">
                  <c:v>1200-5550-0016</c:v>
                </c:pt>
              </c:strCache>
              <c:extLst/>
            </c:strRef>
          </c:cat>
          <c:val>
            <c:numRef>
              <c:f>'[CURVA ISOLAMENTO TUBULAÇÃO_STH_REUNIAO_COORDENAÇÃO.xlsx]Avanço por SOP'!$AD$4:$AD$48</c:f>
              <c:numCache>
                <c:formatCode>0.0%</c:formatCode>
                <c:ptCount val="43"/>
                <c:pt idx="0">
                  <c:v>1</c:v>
                </c:pt>
                <c:pt idx="1">
                  <c:v>1</c:v>
                </c:pt>
                <c:pt idx="2">
                  <c:v>0.89085767769294621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  <c:pt idx="13">
                  <c:v>0.58013116028788536</c:v>
                </c:pt>
                <c:pt idx="14">
                  <c:v>1</c:v>
                </c:pt>
                <c:pt idx="15">
                  <c:v>1</c:v>
                </c:pt>
                <c:pt idx="16">
                  <c:v>1</c:v>
                </c:pt>
                <c:pt idx="17">
                  <c:v>1</c:v>
                </c:pt>
                <c:pt idx="18">
                  <c:v>1</c:v>
                </c:pt>
                <c:pt idx="19">
                  <c:v>1</c:v>
                </c:pt>
                <c:pt idx="20">
                  <c:v>0.99320892239745451</c:v>
                </c:pt>
                <c:pt idx="21">
                  <c:v>1</c:v>
                </c:pt>
                <c:pt idx="22">
                  <c:v>1</c:v>
                </c:pt>
                <c:pt idx="23">
                  <c:v>1</c:v>
                </c:pt>
                <c:pt idx="24">
                  <c:v>0.97328514332503924</c:v>
                </c:pt>
                <c:pt idx="25">
                  <c:v>1</c:v>
                </c:pt>
                <c:pt idx="26">
                  <c:v>1</c:v>
                </c:pt>
                <c:pt idx="27">
                  <c:v>1</c:v>
                </c:pt>
                <c:pt idx="28">
                  <c:v>0.25874836889601427</c:v>
                </c:pt>
                <c:pt idx="29">
                  <c:v>0.79851169045706771</c:v>
                </c:pt>
                <c:pt idx="30">
                  <c:v>0.74409075953991799</c:v>
                </c:pt>
                <c:pt idx="31">
                  <c:v>0.63598020360394447</c:v>
                </c:pt>
                <c:pt idx="32">
                  <c:v>0.74477707615466682</c:v>
                </c:pt>
                <c:pt idx="33">
                  <c:v>1</c:v>
                </c:pt>
                <c:pt idx="34">
                  <c:v>0.40896881246306016</c:v>
                </c:pt>
                <c:pt idx="35">
                  <c:v>5.3464735063897706E-2</c:v>
                </c:pt>
                <c:pt idx="36">
                  <c:v>0.40666658574535808</c:v>
                </c:pt>
                <c:pt idx="37">
                  <c:v>1</c:v>
                </c:pt>
                <c:pt idx="38">
                  <c:v>1</c:v>
                </c:pt>
                <c:pt idx="39">
                  <c:v>1</c:v>
                </c:pt>
                <c:pt idx="40">
                  <c:v>1</c:v>
                </c:pt>
                <c:pt idx="41">
                  <c:v>0.26334794662801908</c:v>
                </c:pt>
                <c:pt idx="42">
                  <c:v>1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2-3E2C-4E16-BF92-9663EE46DEFA}"/>
            </c:ext>
          </c:extLst>
        </c:ser>
        <c:ser>
          <c:idx val="3"/>
          <c:order val="3"/>
          <c:tx>
            <c:strRef>
              <c:f>'[CURVA ISOLAMENTO TUBULAÇÃO_STH_REUNIAO_COORDENAÇÃO.xlsx]Avanço por SOP'!$AE$3</c:f>
              <c:strCache>
                <c:ptCount val="1"/>
                <c:pt idx="0">
                  <c:v>Espaço rótulo</c:v>
                </c:pt>
              </c:strCache>
            </c:strRef>
          </c:tx>
          <c:spPr>
            <a:noFill/>
            <a:ln w="25400">
              <a:noFill/>
            </a:ln>
            <a:effectLst/>
          </c:spPr>
          <c:invertIfNegative val="0"/>
          <c:dLbls>
            <c:dLbl>
              <c:idx val="0"/>
              <c:tx>
                <c:strRef>
                  <c:f>'[CURVA ISOLAMENTO TUBULAÇÃO_STH_REUNIAO_COORDENAÇÃO.xlsx]Avanço por SOP'!$AG$4</c:f>
                  <c:strCache>
                    <c:ptCount val="1"/>
                    <c:pt idx="0">
                      <c:v>0,0%     0,00/9,90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{BDC190AD-C354-4206-A084-D8CBF570CF96}</c15:txfldGUID>
                      <c15:f>'[CURVA ISOLAMENTO TUBULAÇÃO_STH_REUNIAO_COORDENAÇÃO.xlsx]Avanço por SOP'!$AG$4</c15:f>
                      <c15:dlblFieldTableCache>
                        <c:ptCount val="1"/>
                        <c:pt idx="0">
                          <c:v>0,0%     0,00/9,90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3-3E2C-4E16-BF92-9663EE46DEFA}"/>
                </c:ext>
              </c:extLst>
            </c:dLbl>
            <c:dLbl>
              <c:idx val="1"/>
              <c:tx>
                <c:strRef>
                  <c:f>'[CURVA ISOLAMENTO TUBULAÇÃO_STH_REUNIAO_COORDENAÇÃO.xlsx]Avanço por SOP'!$AG$5</c:f>
                  <c:strCache>
                    <c:ptCount val="1"/>
                    <c:pt idx="0">
                      <c:v>0,0%     0,00/0,63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{6D1C8B21-7DD0-44A0-8EC8-869F4E5C48D7}</c15:txfldGUID>
                      <c15:f>'[CURVA ISOLAMENTO TUBULAÇÃO_STH_REUNIAO_COORDENAÇÃO.xlsx]Avanço por SOP'!$AG$5</c15:f>
                      <c15:dlblFieldTableCache>
                        <c:ptCount val="1"/>
                        <c:pt idx="0">
                          <c:v>0,0%     0,00/0,63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4-3E2C-4E16-BF92-9663EE46DEFA}"/>
                </c:ext>
              </c:extLst>
            </c:dLbl>
            <c:dLbl>
              <c:idx val="2"/>
              <c:tx>
                <c:strRef>
                  <c:f>'[CURVA ISOLAMENTO TUBULAÇÃO_STH_REUNIAO_COORDENAÇÃO.xlsx]Avanço por SOP'!$AG$6</c:f>
                  <c:strCache>
                    <c:ptCount val="1"/>
                    <c:pt idx="0">
                      <c:v>10,9%     207,64/1.902,48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{41F96DDA-E4C5-48D1-A458-E2599702E2E0}</c15:txfldGUID>
                      <c15:f>'[CURVA ISOLAMENTO TUBULAÇÃO_STH_REUNIAO_COORDENAÇÃO.xlsx]Avanço por SOP'!$AG$6</c15:f>
                      <c15:dlblFieldTableCache>
                        <c:ptCount val="1"/>
                        <c:pt idx="0">
                          <c:v>10,9%     207,64/1.902,48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5-3E2C-4E16-BF92-9663EE46DEFA}"/>
                </c:ext>
              </c:extLst>
            </c:dLbl>
            <c:dLbl>
              <c:idx val="3"/>
              <c:tx>
                <c:strRef>
                  <c:f>'[CURVA ISOLAMENTO TUBULAÇÃO_STH_REUNIAO_COORDENAÇÃO.xlsx]Avanço por SOP'!$AG$7</c:f>
                  <c:strCache>
                    <c:ptCount val="1"/>
                    <c:pt idx="0">
                      <c:v>0,0%     0,00/30,35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{5FD24155-ABD6-46D7-9454-EA7D75FFB343}</c15:txfldGUID>
                      <c15:f>'[CURVA ISOLAMENTO TUBULAÇÃO_STH_REUNIAO_COORDENAÇÃO.xlsx]Avanço por SOP'!$AG$7</c15:f>
                      <c15:dlblFieldTableCache>
                        <c:ptCount val="1"/>
                        <c:pt idx="0">
                          <c:v>0,0%     0,00/30,35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6-3E2C-4E16-BF92-9663EE46DEFA}"/>
                </c:ext>
              </c:extLst>
            </c:dLbl>
            <c:dLbl>
              <c:idx val="4"/>
              <c:tx>
                <c:strRef>
                  <c:f>'[CURVA ISOLAMENTO TUBULAÇÃO_STH_REUNIAO_COORDENAÇÃO.xlsx]Avanço por SOP'!$AG$8</c:f>
                  <c:strCache>
                    <c:ptCount val="1"/>
                    <c:pt idx="0">
                      <c:v>0,0%     0,00/1.964,91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{2D87C1C4-A78F-4597-9CD4-E61CE5A1B846}</c15:txfldGUID>
                      <c15:f>'[CURVA ISOLAMENTO TUBULAÇÃO_STH_REUNIAO_COORDENAÇÃO.xlsx]Avanço por SOP'!$AG$8</c15:f>
                      <c15:dlblFieldTableCache>
                        <c:ptCount val="1"/>
                        <c:pt idx="0">
                          <c:v>0,0%     0,00/1.964,91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7-3E2C-4E16-BF92-9663EE46DEFA}"/>
                </c:ext>
              </c:extLst>
            </c:dLbl>
            <c:dLbl>
              <c:idx val="5"/>
              <c:tx>
                <c:strRef>
                  <c:f>'[CURVA ISOLAMENTO TUBULAÇÃO_STH_REUNIAO_COORDENAÇÃO.xlsx]Avanço por SOP'!$AG$9</c:f>
                  <c:strCache>
                    <c:ptCount val="1"/>
                    <c:pt idx="0">
                      <c:v>0,0%     0,00/1.194,54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{92ADA917-402B-41C6-BA68-04EB1EEA0ED5}</c15:txfldGUID>
                      <c15:f>'[CURVA ISOLAMENTO TUBULAÇÃO_STH_REUNIAO_COORDENAÇÃO.xlsx]Avanço por SOP'!$AG$9</c15:f>
                      <c15:dlblFieldTableCache>
                        <c:ptCount val="1"/>
                        <c:pt idx="0">
                          <c:v>0,0%     0,00/1.194,54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8-3E2C-4E16-BF92-9663EE46DEFA}"/>
                </c:ext>
              </c:extLst>
            </c:dLbl>
            <c:dLbl>
              <c:idx val="6"/>
              <c:tx>
                <c:strRef>
                  <c:f>'[CURVA ISOLAMENTO TUBULAÇÃO_STH_REUNIAO_COORDENAÇÃO.xlsx]Avanço por SOP'!$AG$10</c:f>
                  <c:strCache>
                    <c:ptCount val="1"/>
                    <c:pt idx="0">
                      <c:v>0,0%     0,00/30,99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{093C8F2F-9DF5-4BA3-9C0B-F047A882CDFD}</c15:txfldGUID>
                      <c15:f>'[CURVA ISOLAMENTO TUBULAÇÃO_STH_REUNIAO_COORDENAÇÃO.xlsx]Avanço por SOP'!$AG$10</c15:f>
                      <c15:dlblFieldTableCache>
                        <c:ptCount val="1"/>
                        <c:pt idx="0">
                          <c:v>0,0%     0,00/30,99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9-3E2C-4E16-BF92-9663EE46DEFA}"/>
                </c:ext>
              </c:extLst>
            </c:dLbl>
            <c:dLbl>
              <c:idx val="7"/>
              <c:tx>
                <c:strRef>
                  <c:f>'[CURVA ISOLAMENTO TUBULAÇÃO_STH_REUNIAO_COORDENAÇÃO.xlsx]Avanço por SOP'!$AG$11</c:f>
                  <c:strCache>
                    <c:ptCount val="1"/>
                    <c:pt idx="0">
                      <c:v>0,0%     0,00/5,54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{BEC33CD6-B17A-4282-82E7-5ED6B5EE0C59}</c15:txfldGUID>
                      <c15:f>'[CURVA ISOLAMENTO TUBULAÇÃO_STH_REUNIAO_COORDENAÇÃO.xlsx]Avanço por SOP'!$AG$11</c15:f>
                      <c15:dlblFieldTableCache>
                        <c:ptCount val="1"/>
                        <c:pt idx="0">
                          <c:v>0,0%     0,00/5,54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A-3E2C-4E16-BF92-9663EE46DEFA}"/>
                </c:ext>
              </c:extLst>
            </c:dLbl>
            <c:dLbl>
              <c:idx val="8"/>
              <c:tx>
                <c:strRef>
                  <c:f>'[CURVA ISOLAMENTO TUBULAÇÃO_STH_REUNIAO_COORDENAÇÃO.xlsx]Avanço por SOP'!$AG$12</c:f>
                  <c:strCache>
                    <c:ptCount val="1"/>
                    <c:pt idx="0">
                      <c:v>0,0%     0,00/2,83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{1626DCF6-CDD1-44CD-865B-3E45131D5329}</c15:txfldGUID>
                      <c15:f>'[CURVA ISOLAMENTO TUBULAÇÃO_STH_REUNIAO_COORDENAÇÃO.xlsx]Avanço por SOP'!$AG$12</c15:f>
                      <c15:dlblFieldTableCache>
                        <c:ptCount val="1"/>
                        <c:pt idx="0">
                          <c:v>0,0%     0,00/2,83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B-3E2C-4E16-BF92-9663EE46DEFA}"/>
                </c:ext>
              </c:extLst>
            </c:dLbl>
            <c:dLbl>
              <c:idx val="9"/>
              <c:tx>
                <c:strRef>
                  <c:f>'[CURVA ISOLAMENTO TUBULAÇÃO_STH_REUNIAO_COORDENAÇÃO.xlsx]Avanço por SOP'!$AG$13</c:f>
                  <c:strCache>
                    <c:ptCount val="1"/>
                    <c:pt idx="0">
                      <c:v>0,0%     0,00/1.092,76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{F7C06370-6109-428F-956F-771AC9A2A75A}</c15:txfldGUID>
                      <c15:f>'[CURVA ISOLAMENTO TUBULAÇÃO_STH_REUNIAO_COORDENAÇÃO.xlsx]Avanço por SOP'!$AG$13</c15:f>
                      <c15:dlblFieldTableCache>
                        <c:ptCount val="1"/>
                        <c:pt idx="0">
                          <c:v>0,0%     0,00/1.092,76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C-3E2C-4E16-BF92-9663EE46DEFA}"/>
                </c:ext>
              </c:extLst>
            </c:dLbl>
            <c:dLbl>
              <c:idx val="10"/>
              <c:tx>
                <c:strRef>
                  <c:f>'[CURVA ISOLAMENTO TUBULAÇÃO_STH_REUNIAO_COORDENAÇÃO.xlsx]Avanço por SOP'!$AG$14</c:f>
                  <c:strCache>
                    <c:ptCount val="1"/>
                    <c:pt idx="0">
                      <c:v>0,0%     0,00/103,47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{5171A9C5-7555-432A-BF4E-6C39BD3D11E0}</c15:txfldGUID>
                      <c15:f>'[CURVA ISOLAMENTO TUBULAÇÃO_STH_REUNIAO_COORDENAÇÃO.xlsx]Avanço por SOP'!$AG$14</c15:f>
                      <c15:dlblFieldTableCache>
                        <c:ptCount val="1"/>
                        <c:pt idx="0">
                          <c:v>0,0%     0,00/103,47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D-3E2C-4E16-BF92-9663EE46DEFA}"/>
                </c:ext>
              </c:extLst>
            </c:dLbl>
            <c:dLbl>
              <c:idx val="11"/>
              <c:tx>
                <c:strRef>
                  <c:f>'[CURVA ISOLAMENTO TUBULAÇÃO_STH_REUNIAO_COORDENAÇÃO.xlsx]Avanço por SOP'!$AG$15</c:f>
                  <c:strCache>
                    <c:ptCount val="1"/>
                    <c:pt idx="0">
                      <c:v>0,0%     0,00/679,57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{B0FFFD8B-9D3C-42E4-A478-B624AD68E68D}</c15:txfldGUID>
                      <c15:f>'[CURVA ISOLAMENTO TUBULAÇÃO_STH_REUNIAO_COORDENAÇÃO.xlsx]Avanço por SOP'!$AG$15</c15:f>
                      <c15:dlblFieldTableCache>
                        <c:ptCount val="1"/>
                        <c:pt idx="0">
                          <c:v>0,0%     0,00/679,57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E-3E2C-4E16-BF92-9663EE46DEFA}"/>
                </c:ext>
              </c:extLst>
            </c:dLbl>
            <c:dLbl>
              <c:idx val="12"/>
              <c:tx>
                <c:strRef>
                  <c:f>'[CURVA ISOLAMENTO TUBULAÇÃO_STH_REUNIAO_COORDENAÇÃO.xlsx]Avanço por SOP'!$AG$16</c:f>
                  <c:strCache>
                    <c:ptCount val="1"/>
                    <c:pt idx="0">
                      <c:v>0,0%     0,00/231,94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{9773D579-4975-4F51-950B-1DEBC994B78C}</c15:txfldGUID>
                      <c15:f>'[CURVA ISOLAMENTO TUBULAÇÃO_STH_REUNIAO_COORDENAÇÃO.xlsx]Avanço por SOP'!$AG$16</c15:f>
                      <c15:dlblFieldTableCache>
                        <c:ptCount val="1"/>
                        <c:pt idx="0">
                          <c:v>0,0%     0,00/231,94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0F-3E2C-4E16-BF92-9663EE46DEFA}"/>
                </c:ext>
              </c:extLst>
            </c:dLbl>
            <c:dLbl>
              <c:idx val="13"/>
              <c:tx>
                <c:strRef>
                  <c:f>'[CURVA ISOLAMENTO TUBULAÇÃO_STH_REUNIAO_COORDENAÇÃO.xlsx]Avanço por SOP'!$AG$17</c:f>
                  <c:strCache>
                    <c:ptCount val="1"/>
                    <c:pt idx="0">
                      <c:v>42,0%     174,48/415,56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{09F8C401-E576-445A-A46C-1BCDB7BA0E3C}</c15:txfldGUID>
                      <c15:f>'[CURVA ISOLAMENTO TUBULAÇÃO_STH_REUNIAO_COORDENAÇÃO.xlsx]Avanço por SOP'!$AG$17</c15:f>
                      <c15:dlblFieldTableCache>
                        <c:ptCount val="1"/>
                        <c:pt idx="0">
                          <c:v>42,0%     174,48/415,56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0-3E2C-4E16-BF92-9663EE46DEFA}"/>
                </c:ext>
              </c:extLst>
            </c:dLbl>
            <c:dLbl>
              <c:idx val="14"/>
              <c:tx>
                <c:strRef>
                  <c:f>'[CURVA ISOLAMENTO TUBULAÇÃO_STH_REUNIAO_COORDENAÇÃO.xlsx]Avanço por SOP'!$AG$18</c:f>
                  <c:strCache>
                    <c:ptCount val="1"/>
                    <c:pt idx="0">
                      <c:v>0,0%     0,00/86,40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{FBD024BE-D3C9-4C73-8F72-9104022CD214}</c15:txfldGUID>
                      <c15:f>'[CURVA ISOLAMENTO TUBULAÇÃO_STH_REUNIAO_COORDENAÇÃO.xlsx]Avanço por SOP'!$AG$18</c15:f>
                      <c15:dlblFieldTableCache>
                        <c:ptCount val="1"/>
                        <c:pt idx="0">
                          <c:v>0,0%     0,00/86,40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1-3E2C-4E16-BF92-9663EE46DEFA}"/>
                </c:ext>
              </c:extLst>
            </c:dLbl>
            <c:dLbl>
              <c:idx val="15"/>
              <c:tx>
                <c:strRef>
                  <c:f>'[CURVA ISOLAMENTO TUBULAÇÃO_STH_REUNIAO_COORDENAÇÃO.xlsx]Avanço por SOP'!$AG$19</c:f>
                  <c:strCache>
                    <c:ptCount val="1"/>
                    <c:pt idx="0">
                      <c:v>0,0%     0,00/32,67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{D3BFEF25-CED9-4D6C-98A4-B71219EC92FB}</c15:txfldGUID>
                      <c15:f>'[CURVA ISOLAMENTO TUBULAÇÃO_STH_REUNIAO_COORDENAÇÃO.xlsx]Avanço por SOP'!$AG$19</c15:f>
                      <c15:dlblFieldTableCache>
                        <c:ptCount val="1"/>
                        <c:pt idx="0">
                          <c:v>0,0%     0,00/32,67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2-3E2C-4E16-BF92-9663EE46DEFA}"/>
                </c:ext>
              </c:extLst>
            </c:dLbl>
            <c:dLbl>
              <c:idx val="16"/>
              <c:tx>
                <c:strRef>
                  <c:f>'[CURVA ISOLAMENTO TUBULAÇÃO_STH_REUNIAO_COORDENAÇÃO.xlsx]Avanço por SOP'!$AG$20</c:f>
                  <c:strCache>
                    <c:ptCount val="1"/>
                    <c:pt idx="0">
                      <c:v>0,0%     0,00/87,92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{6F18B865-1439-404A-BAC1-7ED50C4196FA}</c15:txfldGUID>
                      <c15:f>'[CURVA ISOLAMENTO TUBULAÇÃO_STH_REUNIAO_COORDENAÇÃO.xlsx]Avanço por SOP'!$AG$20</c15:f>
                      <c15:dlblFieldTableCache>
                        <c:ptCount val="1"/>
                        <c:pt idx="0">
                          <c:v>0,0%     0,00/87,92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3-3E2C-4E16-BF92-9663EE46DEFA}"/>
                </c:ext>
              </c:extLst>
            </c:dLbl>
            <c:dLbl>
              <c:idx val="17"/>
              <c:tx>
                <c:strRef>
                  <c:f>'[CURVA ISOLAMENTO TUBULAÇÃO_STH_REUNIAO_COORDENAÇÃO.xlsx]Avanço por SOP'!$AG$21</c:f>
                  <c:strCache>
                    <c:ptCount val="1"/>
                    <c:pt idx="0">
                      <c:v>0,0%     0,00/5,22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{EB87D6AE-34C3-4006-9A61-09EB7AC7A298}</c15:txfldGUID>
                      <c15:f>'[CURVA ISOLAMENTO TUBULAÇÃO_STH_REUNIAO_COORDENAÇÃO.xlsx]Avanço por SOP'!$AG$21</c15:f>
                      <c15:dlblFieldTableCache>
                        <c:ptCount val="1"/>
                        <c:pt idx="0">
                          <c:v>0,0%     0,00/5,22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4-3E2C-4E16-BF92-9663EE46DEFA}"/>
                </c:ext>
              </c:extLst>
            </c:dLbl>
            <c:dLbl>
              <c:idx val="18"/>
              <c:tx>
                <c:strRef>
                  <c:f>'[CURVA ISOLAMENTO TUBULAÇÃO_STH_REUNIAO_COORDENAÇÃO.xlsx]Avanço por SOP'!$AG$22</c:f>
                  <c:strCache>
                    <c:ptCount val="1"/>
                    <c:pt idx="0">
                      <c:v>0,0%     0,00/49,62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{412A27DC-36D0-4C02-B1EB-35009CD19B42}</c15:txfldGUID>
                      <c15:f>'[CURVA ISOLAMENTO TUBULAÇÃO_STH_REUNIAO_COORDENAÇÃO.xlsx]Avanço por SOP'!$AG$22</c15:f>
                      <c15:dlblFieldTableCache>
                        <c:ptCount val="1"/>
                        <c:pt idx="0">
                          <c:v>0,0%     0,00/49,62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5-3E2C-4E16-BF92-9663EE46DEFA}"/>
                </c:ext>
              </c:extLst>
            </c:dLbl>
            <c:dLbl>
              <c:idx val="19"/>
              <c:tx>
                <c:strRef>
                  <c:f>'[CURVA ISOLAMENTO TUBULAÇÃO_STH_REUNIAO_COORDENAÇÃO.xlsx]Avanço por SOP'!$AG$23</c:f>
                  <c:strCache>
                    <c:ptCount val="1"/>
                    <c:pt idx="0">
                      <c:v>0,0%     0,00/2.709,81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{05B6B18D-F200-4A06-8F0B-FADF954AB417}</c15:txfldGUID>
                      <c15:f>'[CURVA ISOLAMENTO TUBULAÇÃO_STH_REUNIAO_COORDENAÇÃO.xlsx]Avanço por SOP'!$AG$23</c15:f>
                      <c15:dlblFieldTableCache>
                        <c:ptCount val="1"/>
                        <c:pt idx="0">
                          <c:v>0,0%     0,00/2.709,81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6-3E2C-4E16-BF92-9663EE46DEFA}"/>
                </c:ext>
              </c:extLst>
            </c:dLbl>
            <c:dLbl>
              <c:idx val="20"/>
              <c:tx>
                <c:strRef>
                  <c:f>'[CURVA ISOLAMENTO TUBULAÇÃO_STH_REUNIAO_COORDENAÇÃO.xlsx]Avanço por SOP'!$AG$24</c:f>
                  <c:strCache>
                    <c:ptCount val="1"/>
                    <c:pt idx="0">
                      <c:v>0,7%     39,50/5.816,82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{1A654C54-CC98-4B4C-A790-FFD2C9226ACE}</c15:txfldGUID>
                      <c15:f>'[CURVA ISOLAMENTO TUBULAÇÃO_STH_REUNIAO_COORDENAÇÃO.xlsx]Avanço por SOP'!$AG$24</c15:f>
                      <c15:dlblFieldTableCache>
                        <c:ptCount val="1"/>
                        <c:pt idx="0">
                          <c:v>0,7%     39,50/5.816,82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7-3E2C-4E16-BF92-9663EE46DEFA}"/>
                </c:ext>
              </c:extLst>
            </c:dLbl>
            <c:dLbl>
              <c:idx val="21"/>
              <c:tx>
                <c:strRef>
                  <c:f>'[CURVA ISOLAMENTO TUBULAÇÃO_STH_REUNIAO_COORDENAÇÃO.xlsx]Avanço por SOP'!$AG$25</c:f>
                  <c:strCache>
                    <c:ptCount val="1"/>
                    <c:pt idx="0">
                      <c:v>0,0%     0,00/321,91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{84F22288-A32A-414F-8B69-4F5CF88B3D28}</c15:txfldGUID>
                      <c15:f>'[CURVA ISOLAMENTO TUBULAÇÃO_STH_REUNIAO_COORDENAÇÃO.xlsx]Avanço por SOP'!$AG$25</c15:f>
                      <c15:dlblFieldTableCache>
                        <c:ptCount val="1"/>
                        <c:pt idx="0">
                          <c:v>0,0%     0,00/321,91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8-3E2C-4E16-BF92-9663EE46DEFA}"/>
                </c:ext>
              </c:extLst>
            </c:dLbl>
            <c:dLbl>
              <c:idx val="22"/>
              <c:tx>
                <c:strRef>
                  <c:f>'[CURVA ISOLAMENTO TUBULAÇÃO_STH_REUNIAO_COORDENAÇÃO.xlsx]Avanço por SOP'!$AG$26</c:f>
                  <c:strCache>
                    <c:ptCount val="1"/>
                    <c:pt idx="0">
                      <c:v>0,0%     0,00/14,41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{900995BD-766B-44E4-9F9E-D87095624083}</c15:txfldGUID>
                      <c15:f>'[CURVA ISOLAMENTO TUBULAÇÃO_STH_REUNIAO_COORDENAÇÃO.xlsx]Avanço por SOP'!$AG$26</c15:f>
                      <c15:dlblFieldTableCache>
                        <c:ptCount val="1"/>
                        <c:pt idx="0">
                          <c:v>0,0%     0,00/14,41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9-3E2C-4E16-BF92-9663EE46DEFA}"/>
                </c:ext>
              </c:extLst>
            </c:dLbl>
            <c:dLbl>
              <c:idx val="23"/>
              <c:tx>
                <c:strRef>
                  <c:f>'[CURVA ISOLAMENTO TUBULAÇÃO_STH_REUNIAO_COORDENAÇÃO.xlsx]Avanço por SOP'!$AG$27</c:f>
                  <c:strCache>
                    <c:ptCount val="1"/>
                    <c:pt idx="0">
                      <c:v>0,0%     0,00/856,96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{A585876F-0261-4C2E-8807-1582B757A966}</c15:txfldGUID>
                      <c15:f>'[CURVA ISOLAMENTO TUBULAÇÃO_STH_REUNIAO_COORDENAÇÃO.xlsx]Avanço por SOP'!$AG$27</c15:f>
                      <c15:dlblFieldTableCache>
                        <c:ptCount val="1"/>
                        <c:pt idx="0">
                          <c:v>0,0%     0,00/856,96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A-3E2C-4E16-BF92-9663EE46DEFA}"/>
                </c:ext>
              </c:extLst>
            </c:dLbl>
            <c:dLbl>
              <c:idx val="24"/>
              <c:tx>
                <c:strRef>
                  <c:f>'[CURVA ISOLAMENTO TUBULAÇÃO_STH_REUNIAO_COORDENAÇÃO.xlsx]Avanço por SOP'!$AG$28</c:f>
                  <c:strCache>
                    <c:ptCount val="1"/>
                    <c:pt idx="0">
                      <c:v>2,7%     56,63/2.119,97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{2363D300-A358-4418-A499-F4E1095CCDB0}</c15:txfldGUID>
                      <c15:f>'[CURVA ISOLAMENTO TUBULAÇÃO_STH_REUNIAO_COORDENAÇÃO.xlsx]Avanço por SOP'!$AG$28</c15:f>
                      <c15:dlblFieldTableCache>
                        <c:ptCount val="1"/>
                        <c:pt idx="0">
                          <c:v>2,7%     56,63/2.119,97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B-3E2C-4E16-BF92-9663EE46DEFA}"/>
                </c:ext>
              </c:extLst>
            </c:dLbl>
            <c:dLbl>
              <c:idx val="25"/>
              <c:tx>
                <c:strRef>
                  <c:f>'[CURVA ISOLAMENTO TUBULAÇÃO_STH_REUNIAO_COORDENAÇÃO.xlsx]Avanço por SOP'!$AG$29</c:f>
                  <c:strCache>
                    <c:ptCount val="1"/>
                    <c:pt idx="0">
                      <c:v>0,0%     0,00/201,08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{2B1DF31F-3DCE-4701-8C2D-FCD66D881782}</c15:txfldGUID>
                      <c15:f>'[CURVA ISOLAMENTO TUBULAÇÃO_STH_REUNIAO_COORDENAÇÃO.xlsx]Avanço por SOP'!$AG$29</c15:f>
                      <c15:dlblFieldTableCache>
                        <c:ptCount val="1"/>
                        <c:pt idx="0">
                          <c:v>0,0%     0,00/201,08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C-3E2C-4E16-BF92-9663EE46DEFA}"/>
                </c:ext>
              </c:extLst>
            </c:dLbl>
            <c:dLbl>
              <c:idx val="26"/>
              <c:tx>
                <c:strRef>
                  <c:f>'[CURVA ISOLAMENTO TUBULAÇÃO_STH_REUNIAO_COORDENAÇÃO.xlsx]Avanço por SOP'!$AG$30</c:f>
                  <c:strCache>
                    <c:ptCount val="1"/>
                    <c:pt idx="0">
                      <c:v>0,0%     0,00/1.284,94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{B60CC2E1-8B25-4937-8EEF-1A63DF1BEA77}</c15:txfldGUID>
                      <c15:f>'[CURVA ISOLAMENTO TUBULAÇÃO_STH_REUNIAO_COORDENAÇÃO.xlsx]Avanço por SOP'!$AG$30</c15:f>
                      <c15:dlblFieldTableCache>
                        <c:ptCount val="1"/>
                        <c:pt idx="0">
                          <c:v>0,0%     0,00/1.284,94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D-3E2C-4E16-BF92-9663EE46DEFA}"/>
                </c:ext>
              </c:extLst>
            </c:dLbl>
            <c:dLbl>
              <c:idx val="27"/>
              <c:tx>
                <c:strRef>
                  <c:f>'[CURVA ISOLAMENTO TUBULAÇÃO_STH_REUNIAO_COORDENAÇÃO.xlsx]Avanço por SOP'!$AG$31</c:f>
                  <c:strCache>
                    <c:ptCount val="1"/>
                    <c:pt idx="0">
                      <c:v>0,0%     0,00/161,82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{6881C02A-7712-4382-9564-EA4D2AEBC085}</c15:txfldGUID>
                      <c15:f>'[CURVA ISOLAMENTO TUBULAÇÃO_STH_REUNIAO_COORDENAÇÃO.xlsx]Avanço por SOP'!$AG$31</c15:f>
                      <c15:dlblFieldTableCache>
                        <c:ptCount val="1"/>
                        <c:pt idx="0">
                          <c:v>0,0%     0,00/161,82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E-3E2C-4E16-BF92-9663EE46DEFA}"/>
                </c:ext>
              </c:extLst>
            </c:dLbl>
            <c:dLbl>
              <c:idx val="28"/>
              <c:tx>
                <c:strRef>
                  <c:f>'[CURVA ISOLAMENTO TUBULAÇÃO_STH_REUNIAO_COORDENAÇÃO.xlsx]Avanço por SOP'!$AG$32</c:f>
                  <c:strCache>
                    <c:ptCount val="1"/>
                    <c:pt idx="0">
                      <c:v>74,1%     123,55/166,67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{27848A8F-AABC-44C1-A9B9-6B17F8C85A88}</c15:txfldGUID>
                      <c15:f>'[CURVA ISOLAMENTO TUBULAÇÃO_STH_REUNIAO_COORDENAÇÃO.xlsx]Avanço por SOP'!$AG$32</c15:f>
                      <c15:dlblFieldTableCache>
                        <c:ptCount val="1"/>
                        <c:pt idx="0">
                          <c:v>74,1%     123,55/166,67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1F-3E2C-4E16-BF92-9663EE46DEFA}"/>
                </c:ext>
              </c:extLst>
            </c:dLbl>
            <c:dLbl>
              <c:idx val="29"/>
              <c:tx>
                <c:strRef>
                  <c:f>'[CURVA ISOLAMENTO TUBULAÇÃO_STH_REUNIAO_COORDENAÇÃO.xlsx]Avanço por SOP'!$AG$33</c:f>
                  <c:strCache>
                    <c:ptCount val="1"/>
                    <c:pt idx="0">
                      <c:v>20,1%     181,01/898,38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{CD1F176A-D75E-4B52-B8B5-25D43ABF00FE}</c15:txfldGUID>
                      <c15:f>'[CURVA ISOLAMENTO TUBULAÇÃO_STH_REUNIAO_COORDENAÇÃO.xlsx]Avanço por SOP'!$AG$33</c15:f>
                      <c15:dlblFieldTableCache>
                        <c:ptCount val="1"/>
                        <c:pt idx="0">
                          <c:v>20,1%     181,01/898,38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0-3E2C-4E16-BF92-9663EE46DEFA}"/>
                </c:ext>
              </c:extLst>
            </c:dLbl>
            <c:dLbl>
              <c:idx val="30"/>
              <c:tx>
                <c:strRef>
                  <c:f>'[CURVA ISOLAMENTO TUBULAÇÃO_STH_REUNIAO_COORDENAÇÃO.xlsx]Avanço por SOP'!$AG$34</c:f>
                  <c:strCache>
                    <c:ptCount val="1"/>
                    <c:pt idx="0">
                      <c:v>25,6%     109,59/428,26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{34DE8E49-4648-467F-8B99-DF6404E01D3B}</c15:txfldGUID>
                      <c15:f>'[CURVA ISOLAMENTO TUBULAÇÃO_STH_REUNIAO_COORDENAÇÃO.xlsx]Avanço por SOP'!$AG$34</c15:f>
                      <c15:dlblFieldTableCache>
                        <c:ptCount val="1"/>
                        <c:pt idx="0">
                          <c:v>25,6%     109,59/428,26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1-3E2C-4E16-BF92-9663EE46DEFA}"/>
                </c:ext>
              </c:extLst>
            </c:dLbl>
            <c:dLbl>
              <c:idx val="31"/>
              <c:tx>
                <c:strRef>
                  <c:f>'[CURVA ISOLAMENTO TUBULAÇÃO_STH_REUNIAO_COORDENAÇÃO.xlsx]Avanço por SOP'!$AG$35</c:f>
                  <c:strCache>
                    <c:ptCount val="1"/>
                    <c:pt idx="0">
                      <c:v>36,4%     142,82/392,34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{03CA6F1A-961E-49B8-9240-AB85BAA228E9}</c15:txfldGUID>
                      <c15:f>'[CURVA ISOLAMENTO TUBULAÇÃO_STH_REUNIAO_COORDENAÇÃO.xlsx]Avanço por SOP'!$AG$35</c15:f>
                      <c15:dlblFieldTableCache>
                        <c:ptCount val="1"/>
                        <c:pt idx="0">
                          <c:v>36,4%     142,82/392,34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2-3E2C-4E16-BF92-9663EE46DEFA}"/>
                </c:ext>
              </c:extLst>
            </c:dLbl>
            <c:dLbl>
              <c:idx val="32"/>
              <c:tx>
                <c:strRef>
                  <c:f>'[CURVA ISOLAMENTO TUBULAÇÃO_STH_REUNIAO_COORDENAÇÃO.xlsx]Avanço por SOP'!$AG$36</c:f>
                  <c:strCache>
                    <c:ptCount val="1"/>
                    <c:pt idx="0">
                      <c:v>25,5%     101,73/398,58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{96464816-E047-4628-AFE2-1AB580A9C1DC}</c15:txfldGUID>
                      <c15:f>'[CURVA ISOLAMENTO TUBULAÇÃO_STH_REUNIAO_COORDENAÇÃO.xlsx]Avanço por SOP'!$AG$36</c15:f>
                      <c15:dlblFieldTableCache>
                        <c:ptCount val="1"/>
                        <c:pt idx="0">
                          <c:v>25,5%     101,73/398,58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3-3E2C-4E16-BF92-9663EE46DEFA}"/>
                </c:ext>
              </c:extLst>
            </c:dLbl>
            <c:dLbl>
              <c:idx val="33"/>
              <c:tx>
                <c:strRef>
                  <c:f>'[CURVA ISOLAMENTO TUBULAÇÃO_STH_REUNIAO_COORDENAÇÃO.xlsx]Avanço por SOP'!$AG$37</c:f>
                  <c:strCache>
                    <c:ptCount val="1"/>
                    <c:pt idx="0">
                      <c:v>0,0%     0,00/90,40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{81AD955D-E383-4F15-AB35-D443D917D4AE}</c15:txfldGUID>
                      <c15:f>'[CURVA ISOLAMENTO TUBULAÇÃO_STH_REUNIAO_COORDENAÇÃO.xlsx]Avanço por SOP'!$AG$37</c15:f>
                      <c15:dlblFieldTableCache>
                        <c:ptCount val="1"/>
                        <c:pt idx="0">
                          <c:v>0,0%     0,00/90,40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4-3E2C-4E16-BF92-9663EE46DEFA}"/>
                </c:ext>
              </c:extLst>
            </c:dLbl>
            <c:dLbl>
              <c:idx val="34"/>
              <c:tx>
                <c:strRef>
                  <c:f>'[CURVA ISOLAMENTO TUBULAÇÃO_STH_REUNIAO_COORDENAÇÃO.xlsx]Avanço por SOP'!$AG$38</c:f>
                  <c:strCache>
                    <c:ptCount val="1"/>
                    <c:pt idx="0">
                      <c:v>59,1%     288,26/487,73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{B2A64804-7420-4733-95A4-568BA6B130BB}</c15:txfldGUID>
                      <c15:f>'[CURVA ISOLAMENTO TUBULAÇÃO_STH_REUNIAO_COORDENAÇÃO.xlsx]Avanço por SOP'!$AG$38</c15:f>
                      <c15:dlblFieldTableCache>
                        <c:ptCount val="1"/>
                        <c:pt idx="0">
                          <c:v>59,1%     288,26/487,73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5-3E2C-4E16-BF92-9663EE46DEFA}"/>
                </c:ext>
              </c:extLst>
            </c:dLbl>
            <c:dLbl>
              <c:idx val="35"/>
              <c:tx>
                <c:strRef>
                  <c:f>'[CURVA ISOLAMENTO TUBULAÇÃO_STH_REUNIAO_COORDENAÇÃO.xlsx]Avanço por SOP'!$AG$39</c:f>
                  <c:strCache>
                    <c:ptCount val="1"/>
                    <c:pt idx="0">
                      <c:v>94,7%     252,57/266,83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{AE000F69-BF1F-452F-B27B-E8AC06EBF2ED}</c15:txfldGUID>
                      <c15:f>'[CURVA ISOLAMENTO TUBULAÇÃO_STH_REUNIAO_COORDENAÇÃO.xlsx]Avanço por SOP'!$AG$39</c15:f>
                      <c15:dlblFieldTableCache>
                        <c:ptCount val="1"/>
                        <c:pt idx="0">
                          <c:v>94,7%     252,57/266,83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6-3E2C-4E16-BF92-9663EE46DEFA}"/>
                </c:ext>
              </c:extLst>
            </c:dLbl>
            <c:dLbl>
              <c:idx val="36"/>
              <c:tx>
                <c:strRef>
                  <c:f>'[CURVA ISOLAMENTO TUBULAÇÃO_STH_REUNIAO_COORDENAÇÃO.xlsx]Avanço por SOP'!$AG$40</c:f>
                  <c:strCache>
                    <c:ptCount val="1"/>
                    <c:pt idx="0">
                      <c:v>59,3%     91,83/154,77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{9614A2BB-A6A9-42E5-99BB-913AD7977F40}</c15:txfldGUID>
                      <c15:f>'[CURVA ISOLAMENTO TUBULAÇÃO_STH_REUNIAO_COORDENAÇÃO.xlsx]Avanço por SOP'!$AG$40</c15:f>
                      <c15:dlblFieldTableCache>
                        <c:ptCount val="1"/>
                        <c:pt idx="0">
                          <c:v>59,3%     91,83/154,77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7-3E2C-4E16-BF92-9663EE46DEFA}"/>
                </c:ext>
              </c:extLst>
            </c:dLbl>
            <c:dLbl>
              <c:idx val="37"/>
              <c:tx>
                <c:strRef>
                  <c:f>'[CURVA ISOLAMENTO TUBULAÇÃO_STH_REUNIAO_COORDENAÇÃO.xlsx]Avanço por SOP'!$AG$41</c:f>
                  <c:strCache>
                    <c:ptCount val="1"/>
                    <c:pt idx="0">
                      <c:v>0,0%     0,00/14,84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{4F7CE7FA-9C28-4453-8C99-6BB42D78D293}</c15:txfldGUID>
                      <c15:f>'[CURVA ISOLAMENTO TUBULAÇÃO_STH_REUNIAO_COORDENAÇÃO.xlsx]Avanço por SOP'!$AG$41</c15:f>
                      <c15:dlblFieldTableCache>
                        <c:ptCount val="1"/>
                        <c:pt idx="0">
                          <c:v>0,0%     0,00/14,84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8-3E2C-4E16-BF92-9663EE46DEFA}"/>
                </c:ext>
              </c:extLst>
            </c:dLbl>
            <c:dLbl>
              <c:idx val="38"/>
              <c:tx>
                <c:strRef>
                  <c:f>'[CURVA ISOLAMENTO TUBULAÇÃO_STH_REUNIAO_COORDENAÇÃO.xlsx]Avanço por SOP'!$AG$42</c:f>
                  <c:strCache>
                    <c:ptCount val="1"/>
                    <c:pt idx="0">
                      <c:v>0,0%     0,00/1,43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{BD625A32-1D48-47A0-859B-9BDB9AC56AB6}</c15:txfldGUID>
                      <c15:f>'[CURVA ISOLAMENTO TUBULAÇÃO_STH_REUNIAO_COORDENAÇÃO.xlsx]Avanço por SOP'!$AG$42</c15:f>
                      <c15:dlblFieldTableCache>
                        <c:ptCount val="1"/>
                        <c:pt idx="0">
                          <c:v>0,0%     0,00/1,43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9-3E2C-4E16-BF92-9663EE46DEFA}"/>
                </c:ext>
              </c:extLst>
            </c:dLbl>
            <c:dLbl>
              <c:idx val="39"/>
              <c:tx>
                <c:strRef>
                  <c:f>'[CURVA ISOLAMENTO TUBULAÇÃO_STH_REUNIAO_COORDENAÇÃO.xlsx]Avanço por SOP'!$AG$43</c:f>
                  <c:strCache>
                    <c:ptCount val="1"/>
                    <c:pt idx="0">
                      <c:v>0,0%     0,00/1.488,24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{7539241B-2BAE-431E-9537-D63342F6C9BB}</c15:txfldGUID>
                      <c15:f>'[CURVA ISOLAMENTO TUBULAÇÃO_STH_REUNIAO_COORDENAÇÃO.xlsx]Avanço por SOP'!$AG$43</c15:f>
                      <c15:dlblFieldTableCache>
                        <c:ptCount val="1"/>
                        <c:pt idx="0">
                          <c:v>0,0%     0,00/1.488,24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A-3E2C-4E16-BF92-9663EE46DEFA}"/>
                </c:ext>
              </c:extLst>
            </c:dLbl>
            <c:dLbl>
              <c:idx val="40"/>
              <c:tx>
                <c:strRef>
                  <c:f>'[CURVA ISOLAMENTO TUBULAÇÃO_STH_REUNIAO_COORDENAÇÃO.xlsx]Avanço por SOP'!$AG$44</c:f>
                  <c:strCache>
                    <c:ptCount val="1"/>
                    <c:pt idx="0">
                      <c:v>0,0%     0,00/350,11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{44F12592-E386-4FCD-9489-33F862054565}</c15:txfldGUID>
                      <c15:f>'[CURVA ISOLAMENTO TUBULAÇÃO_STH_REUNIAO_COORDENAÇÃO.xlsx]Avanço por SOP'!$AG$44</c15:f>
                      <c15:dlblFieldTableCache>
                        <c:ptCount val="1"/>
                        <c:pt idx="0">
                          <c:v>0,0%     0,00/350,11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B-3E2C-4E16-BF92-9663EE46DEFA}"/>
                </c:ext>
              </c:extLst>
            </c:dLbl>
            <c:dLbl>
              <c:idx val="41"/>
              <c:tx>
                <c:strRef>
                  <c:f>'[CURVA ISOLAMENTO TUBULAÇÃO_STH_REUNIAO_COORDENAÇÃO.xlsx]Avanço por SOP'!$AG$45</c:f>
                  <c:strCache>
                    <c:ptCount val="1"/>
                    <c:pt idx="0">
                      <c:v>73,7%     37,28/50,61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{B2644342-7DA4-4371-85EF-37435AC5CD23}</c15:txfldGUID>
                      <c15:f>'[CURVA ISOLAMENTO TUBULAÇÃO_STH_REUNIAO_COORDENAÇÃO.xlsx]Avanço por SOP'!$AG$45</c15:f>
                      <c15:dlblFieldTableCache>
                        <c:ptCount val="1"/>
                        <c:pt idx="0">
                          <c:v>73,7%     37,28/50,61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C-3E2C-4E16-BF92-9663EE46DEFA}"/>
                </c:ext>
              </c:extLst>
            </c:dLbl>
            <c:dLbl>
              <c:idx val="42"/>
              <c:tx>
                <c:strRef>
                  <c:f>'[CURVA ISOLAMENTO TUBULAÇÃO_STH_REUNIAO_COORDENAÇÃO.xlsx]Avanço por SOP'!$AG$46</c:f>
                  <c:strCache>
                    <c:ptCount val="1"/>
                    <c:pt idx="0">
                      <c:v>0,0%     0,00/258,04 m</c:v>
                    </c:pt>
                  </c:strCache>
                </c:strRef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>
                    <c15:dlblFTEntry>
                      <c15:txfldGUID>{2D861AA6-1305-4EB4-B7BD-9F95D72CEAC4}</c15:txfldGUID>
                      <c15:f>'[CURVA ISOLAMENTO TUBULAÇÃO_STH_REUNIAO_COORDENAÇÃO.xlsx]Avanço por SOP'!$AG$46</c15:f>
                      <c15:dlblFieldTableCache>
                        <c:ptCount val="1"/>
                        <c:pt idx="0">
                          <c:v>0,0%     0,00/258,04 m</c:v>
                        </c:pt>
                      </c15:dlblFieldTableCache>
                    </c15:dlblFTEntry>
                  </c15:dlblFieldTable>
                  <c15:showDataLabelsRange val="0"/>
                </c:ext>
                <c:ext xmlns:c16="http://schemas.microsoft.com/office/drawing/2014/chart" uri="{C3380CC4-5D6E-409C-BE32-E72D297353CC}">
                  <c16:uniqueId val="{0000002D-3E2C-4E16-BF92-9663EE46DEF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rgbClr val="7F6000"/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'[CURVA ISOLAMENTO TUBULAÇÃO_STH_REUNIAO_COORDENAÇÃO.xlsx]Avanço por SOP'!$AA$4:$AA$48</c:f>
              <c:strCache>
                <c:ptCount val="43"/>
                <c:pt idx="0">
                  <c:v>0012-0001-0069</c:v>
                </c:pt>
                <c:pt idx="1">
                  <c:v>0012-0023-0009</c:v>
                </c:pt>
                <c:pt idx="2">
                  <c:v>0012-0039-0012</c:v>
                </c:pt>
                <c:pt idx="3">
                  <c:v>0012-0040-0013</c:v>
                </c:pt>
                <c:pt idx="4">
                  <c:v>0012-0043-0015</c:v>
                </c:pt>
                <c:pt idx="5">
                  <c:v>0012-0045-0031</c:v>
                </c:pt>
                <c:pt idx="6">
                  <c:v>0012-0050-0048</c:v>
                </c:pt>
                <c:pt idx="7">
                  <c:v>0012-0050-0050</c:v>
                </c:pt>
                <c:pt idx="8">
                  <c:v>0012-0050-0051</c:v>
                </c:pt>
                <c:pt idx="9">
                  <c:v>0012-0052-0017</c:v>
                </c:pt>
                <c:pt idx="10">
                  <c:v>0012-0060-0016</c:v>
                </c:pt>
                <c:pt idx="11">
                  <c:v>0012-0060-0019</c:v>
                </c:pt>
                <c:pt idx="12">
                  <c:v>0012-0061-0020</c:v>
                </c:pt>
                <c:pt idx="13">
                  <c:v>0012-0062-0039</c:v>
                </c:pt>
                <c:pt idx="14">
                  <c:v>0012-0063-0021</c:v>
                </c:pt>
                <c:pt idx="15">
                  <c:v>0012-0066-0065</c:v>
                </c:pt>
                <c:pt idx="16">
                  <c:v>0012-0081-0025</c:v>
                </c:pt>
                <c:pt idx="17">
                  <c:v>0012-0081-0063</c:v>
                </c:pt>
                <c:pt idx="18">
                  <c:v>0012-0082-0026</c:v>
                </c:pt>
                <c:pt idx="19">
                  <c:v>0012-0084-0027</c:v>
                </c:pt>
                <c:pt idx="20">
                  <c:v>0012-0085-0028</c:v>
                </c:pt>
                <c:pt idx="21">
                  <c:v>0012-0088-0029</c:v>
                </c:pt>
                <c:pt idx="22">
                  <c:v>0012-0096-0030</c:v>
                </c:pt>
                <c:pt idx="23">
                  <c:v>0012-0101-0032</c:v>
                </c:pt>
                <c:pt idx="24">
                  <c:v>0012-0102-0033</c:v>
                </c:pt>
                <c:pt idx="25">
                  <c:v>0012-0104-0035</c:v>
                </c:pt>
                <c:pt idx="26">
                  <c:v>0012-0105-0036</c:v>
                </c:pt>
                <c:pt idx="27">
                  <c:v>0012-0106-0037</c:v>
                </c:pt>
                <c:pt idx="28">
                  <c:v>0012-0107-0038</c:v>
                </c:pt>
                <c:pt idx="29">
                  <c:v>0012-0109-0040</c:v>
                </c:pt>
                <c:pt idx="30">
                  <c:v>0012-0110-0041</c:v>
                </c:pt>
                <c:pt idx="31">
                  <c:v>0012-0111-0042</c:v>
                </c:pt>
                <c:pt idx="32">
                  <c:v>0012-0112-0043</c:v>
                </c:pt>
                <c:pt idx="33">
                  <c:v>0012-0113-0044</c:v>
                </c:pt>
                <c:pt idx="34">
                  <c:v>0012-0114-0045</c:v>
                </c:pt>
                <c:pt idx="35">
                  <c:v>0012-0115-0046</c:v>
                </c:pt>
                <c:pt idx="36">
                  <c:v>0012-0118-0049</c:v>
                </c:pt>
                <c:pt idx="37">
                  <c:v>0012-0124-0055</c:v>
                </c:pt>
                <c:pt idx="38">
                  <c:v>0012-0129-0062</c:v>
                </c:pt>
                <c:pt idx="39">
                  <c:v>0012-0131-0064</c:v>
                </c:pt>
                <c:pt idx="40">
                  <c:v>0012-0133-0066</c:v>
                </c:pt>
                <c:pt idx="41">
                  <c:v>0012-0136-0070</c:v>
                </c:pt>
                <c:pt idx="42">
                  <c:v>1200-5550-0016</c:v>
                </c:pt>
              </c:strCache>
              <c:extLst/>
            </c:strRef>
          </c:cat>
          <c:val>
            <c:numRef>
              <c:f>'[CURVA ISOLAMENTO TUBULAÇÃO_STH_REUNIAO_COORDENAÇÃO.xlsx]Avanço por SOP'!$AE$4:$AE$48</c:f>
              <c:numCache>
                <c:formatCode>0.0%</c:formatCode>
                <c:ptCount val="43"/>
                <c:pt idx="0">
                  <c:v>0.55000000000000004</c:v>
                </c:pt>
                <c:pt idx="1">
                  <c:v>0.55000000000000004</c:v>
                </c:pt>
                <c:pt idx="2">
                  <c:v>0.55000000000000004</c:v>
                </c:pt>
                <c:pt idx="3">
                  <c:v>0.55000000000000004</c:v>
                </c:pt>
                <c:pt idx="4">
                  <c:v>0.55000000000000004</c:v>
                </c:pt>
                <c:pt idx="5">
                  <c:v>0.55000000000000004</c:v>
                </c:pt>
                <c:pt idx="6">
                  <c:v>0.55000000000000004</c:v>
                </c:pt>
                <c:pt idx="7">
                  <c:v>0.55000000000000004</c:v>
                </c:pt>
                <c:pt idx="8">
                  <c:v>0.55000000000000004</c:v>
                </c:pt>
                <c:pt idx="9">
                  <c:v>0.55000000000000004</c:v>
                </c:pt>
                <c:pt idx="10">
                  <c:v>0.55000000000000004</c:v>
                </c:pt>
                <c:pt idx="11">
                  <c:v>0.55000000000000004</c:v>
                </c:pt>
                <c:pt idx="12">
                  <c:v>0.55000000000000004</c:v>
                </c:pt>
                <c:pt idx="13">
                  <c:v>0.55000000000000004</c:v>
                </c:pt>
                <c:pt idx="14">
                  <c:v>0.55000000000000004</c:v>
                </c:pt>
                <c:pt idx="15">
                  <c:v>0.55000000000000004</c:v>
                </c:pt>
                <c:pt idx="16">
                  <c:v>0.55000000000000004</c:v>
                </c:pt>
                <c:pt idx="17">
                  <c:v>0.55000000000000004</c:v>
                </c:pt>
                <c:pt idx="18">
                  <c:v>0.55000000000000004</c:v>
                </c:pt>
                <c:pt idx="19">
                  <c:v>0.55000000000000004</c:v>
                </c:pt>
                <c:pt idx="20">
                  <c:v>0.55000000000000004</c:v>
                </c:pt>
                <c:pt idx="21">
                  <c:v>0.55000000000000004</c:v>
                </c:pt>
                <c:pt idx="22">
                  <c:v>0.55000000000000004</c:v>
                </c:pt>
                <c:pt idx="23">
                  <c:v>0.55000000000000004</c:v>
                </c:pt>
                <c:pt idx="24">
                  <c:v>0.55000000000000004</c:v>
                </c:pt>
                <c:pt idx="25">
                  <c:v>0.55000000000000004</c:v>
                </c:pt>
                <c:pt idx="26">
                  <c:v>0.55000000000000004</c:v>
                </c:pt>
                <c:pt idx="27">
                  <c:v>0.55000000000000004</c:v>
                </c:pt>
                <c:pt idx="28">
                  <c:v>0.55000000000000004</c:v>
                </c:pt>
                <c:pt idx="29">
                  <c:v>0.55000000000000004</c:v>
                </c:pt>
                <c:pt idx="30">
                  <c:v>0.55000000000000004</c:v>
                </c:pt>
                <c:pt idx="31">
                  <c:v>0.55000000000000004</c:v>
                </c:pt>
                <c:pt idx="32">
                  <c:v>0.55000000000000004</c:v>
                </c:pt>
                <c:pt idx="33">
                  <c:v>0.55000000000000004</c:v>
                </c:pt>
                <c:pt idx="34">
                  <c:v>0.55000000000000004</c:v>
                </c:pt>
                <c:pt idx="35">
                  <c:v>0.55000000000000004</c:v>
                </c:pt>
                <c:pt idx="36">
                  <c:v>0.55000000000000004</c:v>
                </c:pt>
                <c:pt idx="37">
                  <c:v>0.55000000000000004</c:v>
                </c:pt>
                <c:pt idx="38">
                  <c:v>0.55000000000000004</c:v>
                </c:pt>
                <c:pt idx="39">
                  <c:v>0.55000000000000004</c:v>
                </c:pt>
                <c:pt idx="40">
                  <c:v>0.55000000000000004</c:v>
                </c:pt>
                <c:pt idx="41">
                  <c:v>0.55000000000000004</c:v>
                </c:pt>
                <c:pt idx="42">
                  <c:v>0.55000000000000004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2E-3E2C-4E16-BF92-9663EE46DE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"/>
        <c:overlap val="100"/>
        <c:axId val="616672287"/>
        <c:axId val="616671807"/>
      </c:barChart>
      <c:catAx>
        <c:axId val="616672287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25400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616671807"/>
        <c:crosses val="autoZero"/>
        <c:auto val="1"/>
        <c:lblAlgn val="ctr"/>
        <c:lblOffset val="100"/>
        <c:noMultiLvlLbl val="0"/>
      </c:catAx>
      <c:valAx>
        <c:axId val="616671807"/>
        <c:scaling>
          <c:orientation val="minMax"/>
          <c:max val="1.55"/>
          <c:min val="0"/>
        </c:scaling>
        <c:delete val="1"/>
        <c:axPos val="t"/>
        <c:numFmt formatCode="0.0%" sourceLinked="1"/>
        <c:majorTickMark val="none"/>
        <c:minorTickMark val="none"/>
        <c:tickLblPos val="nextTo"/>
        <c:crossAx val="61667228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C0F3D9-3A56-4FC1-80CF-303C3E4779B7}" type="datetimeFigureOut">
              <a:rPr lang="pt-BR" smtClean="0"/>
              <a:t>27/10/2026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B43C06-5457-4973-B6D0-46A4EF89BDD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56045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760111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7DAD2-1F17-A821-131E-1DEF22AC9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FD4BC9F-591A-9308-B088-70E23A5E0E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E9D673A-1F42-B91F-AF62-1EE2663D37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9FA2F42-7F3E-4389-EA38-22D9AE55EE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B43C06-5457-4973-B6D0-46A4EF89BDD0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22051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581F4-4BF1-0838-3D65-2EFFCC946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6A42089-21C9-A8B2-C0CD-70BFE576CD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0880D6D-9F69-3052-A82A-0557AE8761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C156691-DAC4-4B01-C3F5-6CE7D56F35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B43C06-5457-4973-B6D0-46A4EF89BDD0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77491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7358D-1A93-05BE-C696-BEFEB292E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30E86B9-336B-3369-40E5-8DCEC0D591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93DF2B4-FCF3-89BF-43EE-F0526A80BD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9DF74C2-13FF-F9E9-B390-3C8C889EEC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B43C06-5457-4973-B6D0-46A4EF89BDD0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45088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12AA9-C3B2-FFE2-51EE-65041B314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208E2C8-D8C0-3609-47B4-32052D2B4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D47E5B1-0EED-4E8D-CBC3-169934A0A7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0D34F3B-B4AE-E6B0-AD93-56EDD1AE35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B43C06-5457-4973-B6D0-46A4EF89BDD0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21517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1571308"/>
            <a:ext cx="10881360" cy="3342640"/>
          </a:xfrm>
        </p:spPr>
        <p:txBody>
          <a:bodyPr anchor="b"/>
          <a:lstStyle>
            <a:lvl1pPr algn="ctr">
              <a:defRPr sz="84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0200" y="5042853"/>
            <a:ext cx="9601200" cy="2318067"/>
          </a:xfrm>
        </p:spPr>
        <p:txBody>
          <a:bodyPr/>
          <a:lstStyle>
            <a:lvl1pPr marL="0" indent="0" algn="ctr">
              <a:buNone/>
              <a:defRPr sz="3360"/>
            </a:lvl1pPr>
            <a:lvl2pPr marL="640080" indent="0" algn="ctr">
              <a:buNone/>
              <a:defRPr sz="2800"/>
            </a:lvl2pPr>
            <a:lvl3pPr marL="1280160" indent="0" algn="ctr">
              <a:buNone/>
              <a:defRPr sz="2520"/>
            </a:lvl3pPr>
            <a:lvl4pPr marL="1920240" indent="0" algn="ctr">
              <a:buNone/>
              <a:defRPr sz="2240"/>
            </a:lvl4pPr>
            <a:lvl5pPr marL="2560320" indent="0" algn="ctr">
              <a:buNone/>
              <a:defRPr sz="2240"/>
            </a:lvl5pPr>
            <a:lvl6pPr marL="3200400" indent="0" algn="ctr">
              <a:buNone/>
              <a:defRPr sz="2240"/>
            </a:lvl6pPr>
            <a:lvl7pPr marL="3840480" indent="0" algn="ctr">
              <a:buNone/>
              <a:defRPr sz="2240"/>
            </a:lvl7pPr>
            <a:lvl8pPr marL="4480560" indent="0" algn="ctr">
              <a:buNone/>
              <a:defRPr sz="2240"/>
            </a:lvl8pPr>
            <a:lvl9pPr marL="5120640" indent="0" algn="ctr">
              <a:buNone/>
              <a:defRPr sz="2240"/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AFE70-DF1E-4C1D-A1EE-5AB7B317A6A3}" type="datetimeFigureOut">
              <a:rPr lang="pt-BR" smtClean="0"/>
              <a:t>27/10/2026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06774-A3D6-40B1-B1F7-CDB64123F7B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4818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AFE70-DF1E-4C1D-A1EE-5AB7B317A6A3}" type="datetimeFigureOut">
              <a:rPr lang="pt-BR" smtClean="0"/>
              <a:t>27/10/2026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06774-A3D6-40B1-B1F7-CDB64123F7B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10555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443" y="2393635"/>
            <a:ext cx="11041380" cy="3993832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3443" y="6425250"/>
            <a:ext cx="11041380" cy="2100262"/>
          </a:xfrm>
        </p:spPr>
        <p:txBody>
          <a:bodyPr/>
          <a:lstStyle>
            <a:lvl1pPr marL="0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1pPr>
            <a:lvl2pPr marL="640080" indent="0">
              <a:buNone/>
              <a:defRPr sz="2800">
                <a:solidFill>
                  <a:schemeClr val="tx1">
                    <a:tint val="82000"/>
                  </a:schemeClr>
                </a:solidFill>
              </a:defRPr>
            </a:lvl2pPr>
            <a:lvl3pPr marL="1280160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3pPr>
            <a:lvl4pPr marL="192024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4pPr>
            <a:lvl5pPr marL="256032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5pPr>
            <a:lvl6pPr marL="320040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6pPr>
            <a:lvl7pPr marL="384048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7pPr>
            <a:lvl8pPr marL="448056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8pPr>
            <a:lvl9pPr marL="512064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AFE70-DF1E-4C1D-A1EE-5AB7B317A6A3}" type="datetimeFigureOut">
              <a:rPr lang="pt-BR" smtClean="0"/>
              <a:t>27/10/2026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06774-A3D6-40B1-B1F7-CDB64123F7B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149697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0110" y="2555875"/>
            <a:ext cx="5440680" cy="609187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0810" y="2555875"/>
            <a:ext cx="5440680" cy="609187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AFE70-DF1E-4C1D-A1EE-5AB7B317A6A3}" type="datetimeFigureOut">
              <a:rPr lang="pt-BR" smtClean="0"/>
              <a:t>27/10/2026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06774-A3D6-40B1-B1F7-CDB64123F7B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087893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7" y="511177"/>
            <a:ext cx="11041380" cy="1855788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1779" y="2353628"/>
            <a:ext cx="5415676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1779" y="3507105"/>
            <a:ext cx="5415676" cy="515842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80811" y="2353628"/>
            <a:ext cx="5442347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80811" y="3507105"/>
            <a:ext cx="5442347" cy="515842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AFE70-DF1E-4C1D-A1EE-5AB7B317A6A3}" type="datetimeFigureOut">
              <a:rPr lang="pt-BR" smtClean="0"/>
              <a:t>27/10/2026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06774-A3D6-40B1-B1F7-CDB64123F7B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54831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AFE70-DF1E-4C1D-A1EE-5AB7B317A6A3}" type="datetimeFigureOut">
              <a:rPr lang="pt-BR" smtClean="0"/>
              <a:t>27/10/2026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06774-A3D6-40B1-B1F7-CDB64123F7B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0891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AFE70-DF1E-4C1D-A1EE-5AB7B317A6A3}" type="datetimeFigureOut">
              <a:rPr lang="pt-BR" smtClean="0"/>
              <a:t>27/10/2026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06774-A3D6-40B1-B1F7-CDB64123F7B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49768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2347" y="1382397"/>
            <a:ext cx="6480810" cy="6823075"/>
          </a:xfrm>
        </p:spPr>
        <p:txBody>
          <a:bodyPr/>
          <a:lstStyle>
            <a:lvl1pPr>
              <a:defRPr sz="4480"/>
            </a:lvl1pPr>
            <a:lvl2pPr>
              <a:defRPr sz="3920"/>
            </a:lvl2pPr>
            <a:lvl3pPr>
              <a:defRPr sz="336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AFE70-DF1E-4C1D-A1EE-5AB7B317A6A3}" type="datetimeFigureOut">
              <a:rPr lang="pt-BR" smtClean="0"/>
              <a:t>27/10/2026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06774-A3D6-40B1-B1F7-CDB64123F7B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41284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42347" y="1382397"/>
            <a:ext cx="6480810" cy="6823075"/>
          </a:xfrm>
        </p:spPr>
        <p:txBody>
          <a:bodyPr anchor="t"/>
          <a:lstStyle>
            <a:lvl1pPr marL="0" indent="0">
              <a:buNone/>
              <a:defRPr sz="4480"/>
            </a:lvl1pPr>
            <a:lvl2pPr marL="640080" indent="0">
              <a:buNone/>
              <a:defRPr sz="3920"/>
            </a:lvl2pPr>
            <a:lvl3pPr marL="1280160" indent="0">
              <a:buNone/>
              <a:defRPr sz="3360"/>
            </a:lvl3pPr>
            <a:lvl4pPr marL="1920240" indent="0">
              <a:buNone/>
              <a:defRPr sz="2800"/>
            </a:lvl4pPr>
            <a:lvl5pPr marL="2560320" indent="0">
              <a:buNone/>
              <a:defRPr sz="2800"/>
            </a:lvl5pPr>
            <a:lvl6pPr marL="3200400" indent="0">
              <a:buNone/>
              <a:defRPr sz="2800"/>
            </a:lvl6pPr>
            <a:lvl7pPr marL="3840480" indent="0">
              <a:buNone/>
              <a:defRPr sz="2800"/>
            </a:lvl7pPr>
            <a:lvl8pPr marL="4480560" indent="0">
              <a:buNone/>
              <a:defRPr sz="2800"/>
            </a:lvl8pPr>
            <a:lvl9pPr marL="5120640" indent="0">
              <a:buNone/>
              <a:defRPr sz="2800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AFE70-DF1E-4C1D-A1EE-5AB7B317A6A3}" type="datetimeFigureOut">
              <a:rPr lang="pt-BR" smtClean="0"/>
              <a:t>27/10/2026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06774-A3D6-40B1-B1F7-CDB64123F7B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0133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AFE70-DF1E-4C1D-A1EE-5AB7B317A6A3}" type="datetimeFigureOut">
              <a:rPr lang="pt-BR" smtClean="0"/>
              <a:t>27/10/2026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06774-A3D6-40B1-B1F7-CDB64123F7B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97287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1146" y="511175"/>
            <a:ext cx="2760345" cy="8136573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80111" y="511175"/>
            <a:ext cx="8121015" cy="8136573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AFE70-DF1E-4C1D-A1EE-5AB7B317A6A3}" type="datetimeFigureOut">
              <a:rPr lang="pt-BR" smtClean="0"/>
              <a:t>27/10/2026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06774-A3D6-40B1-B1F7-CDB64123F7B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806958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/>
          <p:cNvSpPr>
            <a:spLocks noGrp="1"/>
          </p:cNvSpPr>
          <p:nvPr>
            <p:ph type="pic" sz="quarter" idx="10"/>
          </p:nvPr>
        </p:nvSpPr>
        <p:spPr>
          <a:xfrm>
            <a:off x="7743549" y="928745"/>
            <a:ext cx="4286190" cy="7721069"/>
          </a:xfrm>
          <a:custGeom>
            <a:avLst/>
            <a:gdLst>
              <a:gd name="connsiteX0" fmla="*/ 0 w 4082086"/>
              <a:gd name="connsiteY0" fmla="*/ 0 h 4646031"/>
              <a:gd name="connsiteX1" fmla="*/ 4082086 w 4082086"/>
              <a:gd name="connsiteY1" fmla="*/ 0 h 4646031"/>
              <a:gd name="connsiteX2" fmla="*/ 4082086 w 4082086"/>
              <a:gd name="connsiteY2" fmla="*/ 4646031 h 4646031"/>
              <a:gd name="connsiteX3" fmla="*/ 0 w 4082086"/>
              <a:gd name="connsiteY3" fmla="*/ 4646031 h 46460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82086" h="4646031">
                <a:moveTo>
                  <a:pt x="0" y="0"/>
                </a:moveTo>
                <a:lnTo>
                  <a:pt x="4082086" y="0"/>
                </a:lnTo>
                <a:lnTo>
                  <a:pt x="4082086" y="4646031"/>
                </a:lnTo>
                <a:lnTo>
                  <a:pt x="0" y="4646031"/>
                </a:lnTo>
                <a:close/>
              </a:path>
            </a:pathLst>
          </a:custGeom>
          <a:pattFill prst="divot">
            <a:fgClr>
              <a:schemeClr val="accent1"/>
            </a:fgClr>
            <a:bgClr>
              <a:schemeClr val="bg1"/>
            </a:bgClr>
          </a:pattFill>
        </p:spPr>
        <p:txBody>
          <a:bodyPr wrap="square" anchor="ctr">
            <a:noAutofit/>
          </a:bodyPr>
          <a:lstStyle>
            <a:lvl1pPr marL="0" indent="0" algn="ctr">
              <a:buNone/>
              <a:defRPr sz="126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3066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0110" y="511177"/>
            <a:ext cx="11041380" cy="1855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0110" y="2555875"/>
            <a:ext cx="11041380" cy="6091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011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BAFE70-DF1E-4C1D-A1EE-5AB7B317A6A3}" type="datetimeFigureOut">
              <a:rPr lang="pt-BR" smtClean="0"/>
              <a:t>27/10/2026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40530" y="8898892"/>
            <a:ext cx="432054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4113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D06774-A3D6-40B1-B1F7-CDB64123F7B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0469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Uma imagem contendo metal, fio, grande, em pé&#10;&#10;Descrição gerada automaticamente">
            <a:extLst>
              <a:ext uri="{FF2B5EF4-FFF2-40B4-BE49-F238E27FC236}">
                <a16:creationId xmlns:a16="http://schemas.microsoft.com/office/drawing/2014/main" id="{9168B088-30C4-97E2-0A77-0B0B9CDCBAE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694"/>
          <a:stretch/>
        </p:blipFill>
        <p:spPr>
          <a:xfrm>
            <a:off x="989" y="1203533"/>
            <a:ext cx="12799625" cy="7197518"/>
          </a:xfrm>
          <a:prstGeom prst="rect">
            <a:avLst/>
          </a:prstGeom>
        </p:spPr>
      </p:pic>
      <p:sp>
        <p:nvSpPr>
          <p:cNvPr id="6" name="Pentágono 5">
            <a:extLst>
              <a:ext uri="{FF2B5EF4-FFF2-40B4-BE49-F238E27FC236}">
                <a16:creationId xmlns:a16="http://schemas.microsoft.com/office/drawing/2014/main" id="{6C791DD7-AAC6-1BFC-0D9D-FF1379B32220}"/>
              </a:ext>
            </a:extLst>
          </p:cNvPr>
          <p:cNvSpPr/>
          <p:nvPr/>
        </p:nvSpPr>
        <p:spPr>
          <a:xfrm rot="15158375">
            <a:off x="3940216" y="-531698"/>
            <a:ext cx="11932799" cy="9562856"/>
          </a:xfrm>
          <a:prstGeom prst="pentagon">
            <a:avLst/>
          </a:prstGeom>
          <a:solidFill>
            <a:srgbClr val="003D73">
              <a:alpha val="70000"/>
            </a:srgbClr>
          </a:solidFill>
          <a:ln>
            <a:solidFill>
              <a:srgbClr val="3E5266">
                <a:alpha val="8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60024">
              <a:defRPr/>
            </a:pPr>
            <a:endParaRPr lang="pt-BR" sz="1890">
              <a:solidFill>
                <a:prstClr val="white"/>
              </a:solidFill>
              <a:latin typeface="Segoe UI"/>
            </a:endParaRPr>
          </a:p>
        </p:txBody>
      </p:sp>
      <p:cxnSp>
        <p:nvCxnSpPr>
          <p:cNvPr id="15" name="Conector reto 14">
            <a:extLst>
              <a:ext uri="{FF2B5EF4-FFF2-40B4-BE49-F238E27FC236}">
                <a16:creationId xmlns:a16="http://schemas.microsoft.com/office/drawing/2014/main" id="{BCAD825E-6A03-5FB7-0882-0064B6CEE448}"/>
              </a:ext>
            </a:extLst>
          </p:cNvPr>
          <p:cNvCxnSpPr>
            <a:cxnSpLocks/>
          </p:cNvCxnSpPr>
          <p:nvPr/>
        </p:nvCxnSpPr>
        <p:spPr>
          <a:xfrm>
            <a:off x="12808340" y="200734"/>
            <a:ext cx="0" cy="91997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aixaDeTexto 10">
            <a:extLst>
              <a:ext uri="{FF2B5EF4-FFF2-40B4-BE49-F238E27FC236}">
                <a16:creationId xmlns:a16="http://schemas.microsoft.com/office/drawing/2014/main" id="{35541D71-B8AE-8CFA-486E-A1CC61051CEE}"/>
              </a:ext>
            </a:extLst>
          </p:cNvPr>
          <p:cNvSpPr txBox="1"/>
          <p:nvPr/>
        </p:nvSpPr>
        <p:spPr>
          <a:xfrm>
            <a:off x="6124554" y="3805089"/>
            <a:ext cx="6676058" cy="2012943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algn="ctr" defTabSz="960024">
              <a:defRPr/>
            </a:pPr>
            <a:r>
              <a:rPr lang="pt-BR" sz="2240" b="1" dirty="0">
                <a:solidFill>
                  <a:srgbClr val="FFFFFF"/>
                </a:solidFill>
                <a:latin typeface="Segoe UI"/>
              </a:rPr>
              <a:t>REFINARIA ABREU E LIMA </a:t>
            </a:r>
          </a:p>
          <a:p>
            <a:pPr algn="ctr" defTabSz="960024">
              <a:defRPr/>
            </a:pPr>
            <a:r>
              <a:rPr lang="pt-BR" sz="3780" b="1" dirty="0">
                <a:solidFill>
                  <a:srgbClr val="FFFFFF"/>
                </a:solidFill>
                <a:latin typeface="Segoe UI"/>
              </a:rPr>
              <a:t>UDA - LOTE F</a:t>
            </a:r>
          </a:p>
          <a:p>
            <a:pPr algn="ctr" defTabSz="960024">
              <a:defRPr/>
            </a:pPr>
            <a:r>
              <a:rPr lang="pt-BR" sz="3360" dirty="0">
                <a:solidFill>
                  <a:srgbClr val="FFFFFF"/>
                </a:solidFill>
                <a:latin typeface="Segoe UI"/>
              </a:rPr>
              <a:t>Indicador de avanço físico</a:t>
            </a:r>
          </a:p>
          <a:p>
            <a:pPr algn="ctr" defTabSz="960024">
              <a:defRPr/>
            </a:pPr>
            <a:r>
              <a:rPr lang="pt-BR" sz="3360" b="1" dirty="0">
                <a:solidFill>
                  <a:srgbClr val="FFFFFF"/>
                </a:solidFill>
                <a:latin typeface="Segoe UI"/>
              </a:rPr>
              <a:t>ESTRUTURA METÁLICA e ISOLAMENTO</a:t>
            </a:r>
          </a:p>
          <a:p>
            <a:pPr algn="ctr" defTabSz="960024">
              <a:defRPr/>
            </a:pPr>
            <a:r>
              <a:rPr lang="pt-BR" sz="3360" dirty="0">
                <a:solidFill>
                  <a:srgbClr val="FFFFFF"/>
                </a:solidFill>
                <a:latin typeface="Segoe UI"/>
              </a:rPr>
              <a:t>Semana 69</a:t>
            </a:r>
          </a:p>
        </p:txBody>
      </p:sp>
      <p:grpSp>
        <p:nvGrpSpPr>
          <p:cNvPr id="13" name="Agrupar 12">
            <a:extLst>
              <a:ext uri="{FF2B5EF4-FFF2-40B4-BE49-F238E27FC236}">
                <a16:creationId xmlns:a16="http://schemas.microsoft.com/office/drawing/2014/main" id="{C7AEAABB-EA11-C226-0D53-F639D7D23EEB}"/>
              </a:ext>
            </a:extLst>
          </p:cNvPr>
          <p:cNvGrpSpPr/>
          <p:nvPr/>
        </p:nvGrpSpPr>
        <p:grpSpPr>
          <a:xfrm>
            <a:off x="4462189" y="3015"/>
            <a:ext cx="5866008" cy="7678628"/>
            <a:chOff x="4412100" y="-1034446"/>
            <a:chExt cx="5587536" cy="7314107"/>
          </a:xfrm>
          <a:solidFill>
            <a:srgbClr val="FFCC01"/>
          </a:solidFill>
        </p:grpSpPr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E2EA4C59-D782-D469-0717-3945B831FA24}"/>
                </a:ext>
              </a:extLst>
            </p:cNvPr>
            <p:cNvSpPr/>
            <p:nvPr/>
          </p:nvSpPr>
          <p:spPr>
            <a:xfrm rot="838991">
              <a:off x="5734298" y="-1034446"/>
              <a:ext cx="108000" cy="555213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320009">
                <a:defRPr/>
              </a:pPr>
              <a:endParaRPr lang="pt-BR" sz="1890">
                <a:solidFill>
                  <a:srgbClr val="FFFFFF"/>
                </a:solidFill>
                <a:latin typeface="Lato"/>
              </a:endParaRP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CADAF057-3127-CDA8-A2E5-1FD790E08747}"/>
                </a:ext>
              </a:extLst>
            </p:cNvPr>
            <p:cNvSpPr/>
            <p:nvPr/>
          </p:nvSpPr>
          <p:spPr>
            <a:xfrm rot="18666016">
              <a:off x="7151868" y="3431893"/>
              <a:ext cx="108000" cy="5587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320009">
                <a:defRPr/>
              </a:pPr>
              <a:endParaRPr lang="pt-BR" sz="1890">
                <a:solidFill>
                  <a:srgbClr val="FFFFFF"/>
                </a:solidFill>
                <a:latin typeface="Lato"/>
              </a:endParaRPr>
            </a:p>
          </p:txBody>
        </p:sp>
      </p:grpSp>
      <p:grpSp>
        <p:nvGrpSpPr>
          <p:cNvPr id="17" name="Agrupar 16">
            <a:extLst>
              <a:ext uri="{FF2B5EF4-FFF2-40B4-BE49-F238E27FC236}">
                <a16:creationId xmlns:a16="http://schemas.microsoft.com/office/drawing/2014/main" id="{60B0785B-0E19-DBAB-8347-D125E37E441E}"/>
              </a:ext>
            </a:extLst>
          </p:cNvPr>
          <p:cNvGrpSpPr/>
          <p:nvPr/>
        </p:nvGrpSpPr>
        <p:grpSpPr>
          <a:xfrm>
            <a:off x="4897892" y="1107"/>
            <a:ext cx="5866008" cy="7678426"/>
            <a:chOff x="4386068" y="-1044014"/>
            <a:chExt cx="5587536" cy="7313916"/>
          </a:xfrm>
          <a:solidFill>
            <a:srgbClr val="FFF1CD"/>
          </a:solidFill>
        </p:grpSpPr>
        <p:sp>
          <p:nvSpPr>
            <p:cNvPr id="19" name="Retângulo 18">
              <a:extLst>
                <a:ext uri="{FF2B5EF4-FFF2-40B4-BE49-F238E27FC236}">
                  <a16:creationId xmlns:a16="http://schemas.microsoft.com/office/drawing/2014/main" id="{8F353AE7-D960-4F45-8568-6785EF8EC346}"/>
                </a:ext>
              </a:extLst>
            </p:cNvPr>
            <p:cNvSpPr/>
            <p:nvPr/>
          </p:nvSpPr>
          <p:spPr>
            <a:xfrm rot="838991">
              <a:off x="5735471" y="-1044014"/>
              <a:ext cx="28800" cy="555213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320009">
                <a:defRPr/>
              </a:pPr>
              <a:endParaRPr lang="pt-BR" sz="1890">
                <a:solidFill>
                  <a:srgbClr val="FFFFFF"/>
                </a:solidFill>
                <a:latin typeface="Lato"/>
              </a:endParaRPr>
            </a:p>
          </p:txBody>
        </p:sp>
        <p:sp>
          <p:nvSpPr>
            <p:cNvPr id="20" name="Retângulo 19">
              <a:extLst>
                <a:ext uri="{FF2B5EF4-FFF2-40B4-BE49-F238E27FC236}">
                  <a16:creationId xmlns:a16="http://schemas.microsoft.com/office/drawing/2014/main" id="{0E19A1B2-2FB7-C5B7-BE96-177549C48136}"/>
                </a:ext>
              </a:extLst>
            </p:cNvPr>
            <p:cNvSpPr/>
            <p:nvPr/>
          </p:nvSpPr>
          <p:spPr>
            <a:xfrm rot="18666016">
              <a:off x="7165436" y="3461734"/>
              <a:ext cx="28800" cy="5587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320009">
                <a:defRPr/>
              </a:pPr>
              <a:endParaRPr lang="pt-BR" sz="1890">
                <a:solidFill>
                  <a:srgbClr val="FFFFFF"/>
                </a:solidFill>
                <a:latin typeface="Lato"/>
              </a:endParaRPr>
            </a:p>
          </p:txBody>
        </p:sp>
      </p:grpSp>
      <p:sp>
        <p:nvSpPr>
          <p:cNvPr id="2" name="Triângulo isósceles 1">
            <a:extLst>
              <a:ext uri="{FF2B5EF4-FFF2-40B4-BE49-F238E27FC236}">
                <a16:creationId xmlns:a16="http://schemas.microsoft.com/office/drawing/2014/main" id="{1C760A56-0460-EB1A-D7A2-41648D7C972E}"/>
              </a:ext>
            </a:extLst>
          </p:cNvPr>
          <p:cNvSpPr/>
          <p:nvPr/>
        </p:nvSpPr>
        <p:spPr>
          <a:xfrm rot="20416104">
            <a:off x="-1860302" y="5183597"/>
            <a:ext cx="4576193" cy="4164356"/>
          </a:xfrm>
          <a:prstGeom prst="triangle">
            <a:avLst/>
          </a:prstGeom>
          <a:solidFill>
            <a:srgbClr val="003D73">
              <a:alpha val="70000"/>
            </a:srgbClr>
          </a:solidFill>
          <a:ln>
            <a:solidFill>
              <a:srgbClr val="3E5266">
                <a:alpha val="8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20009">
              <a:defRPr/>
            </a:pPr>
            <a:endParaRPr lang="pt-BR" sz="1890">
              <a:solidFill>
                <a:prstClr val="white"/>
              </a:solidFill>
              <a:latin typeface="Segoe UI"/>
            </a:endParaRPr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85266F64-B301-3CB2-31C3-D704EEC3A75F}"/>
              </a:ext>
            </a:extLst>
          </p:cNvPr>
          <p:cNvSpPr/>
          <p:nvPr/>
        </p:nvSpPr>
        <p:spPr>
          <a:xfrm rot="2478518">
            <a:off x="-898849" y="6975031"/>
            <a:ext cx="5301370" cy="75588"/>
          </a:xfrm>
          <a:prstGeom prst="rect">
            <a:avLst/>
          </a:prstGeom>
          <a:solidFill>
            <a:srgbClr val="FFCC0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20009">
              <a:defRPr/>
            </a:pPr>
            <a:endParaRPr lang="pt-BR" sz="1890">
              <a:solidFill>
                <a:srgbClr val="FFFFFF"/>
              </a:solidFill>
              <a:latin typeface="Lato"/>
            </a:endParaRPr>
          </a:p>
        </p:txBody>
      </p:sp>
      <p:cxnSp>
        <p:nvCxnSpPr>
          <p:cNvPr id="23" name="Conector reto 22">
            <a:extLst>
              <a:ext uri="{FF2B5EF4-FFF2-40B4-BE49-F238E27FC236}">
                <a16:creationId xmlns:a16="http://schemas.microsoft.com/office/drawing/2014/main" id="{D3C897DC-1A93-DB04-65D9-CE64A9F03455}"/>
              </a:ext>
            </a:extLst>
          </p:cNvPr>
          <p:cNvCxnSpPr>
            <a:cxnSpLocks/>
          </p:cNvCxnSpPr>
          <p:nvPr/>
        </p:nvCxnSpPr>
        <p:spPr>
          <a:xfrm>
            <a:off x="93363" y="5456651"/>
            <a:ext cx="3903862" cy="3453232"/>
          </a:xfrm>
          <a:prstGeom prst="line">
            <a:avLst/>
          </a:prstGeom>
          <a:ln w="19050">
            <a:solidFill>
              <a:srgbClr val="FFF2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Imagem 3">
            <a:extLst>
              <a:ext uri="{FF2B5EF4-FFF2-40B4-BE49-F238E27FC236}">
                <a16:creationId xmlns:a16="http://schemas.microsoft.com/office/drawing/2014/main" id="{E2FF2444-7A9D-F301-91A8-D9850DACDD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275" y="7213318"/>
            <a:ext cx="5543574" cy="1382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911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2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1104D-2B6A-38A3-91E0-213E38595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Retângulo 140">
            <a:extLst>
              <a:ext uri="{FF2B5EF4-FFF2-40B4-BE49-F238E27FC236}">
                <a16:creationId xmlns:a16="http://schemas.microsoft.com/office/drawing/2014/main" id="{E1266D5E-50D8-9D8A-DF80-7106A948D0AD}"/>
              </a:ext>
            </a:extLst>
          </p:cNvPr>
          <p:cNvSpPr/>
          <p:nvPr/>
        </p:nvSpPr>
        <p:spPr>
          <a:xfrm>
            <a:off x="1207408" y="195362"/>
            <a:ext cx="10373545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pt-BR" sz="2800" b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ACOMPANHAMENTO VISUAL ISOLAMENTO DE EQUIPAMENTOS</a:t>
            </a:r>
          </a:p>
        </p:txBody>
      </p:sp>
      <p:sp>
        <p:nvSpPr>
          <p:cNvPr id="142" name="CaixaDeTexto 141">
            <a:extLst>
              <a:ext uri="{FF2B5EF4-FFF2-40B4-BE49-F238E27FC236}">
                <a16:creationId xmlns:a16="http://schemas.microsoft.com/office/drawing/2014/main" id="{4419DFE9-4F24-3206-DC8D-0E7F1BE5F753}"/>
              </a:ext>
            </a:extLst>
          </p:cNvPr>
          <p:cNvSpPr txBox="1"/>
          <p:nvPr/>
        </p:nvSpPr>
        <p:spPr>
          <a:xfrm>
            <a:off x="11554537" y="0"/>
            <a:ext cx="1247063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1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     DATA</a:t>
            </a:r>
            <a:r>
              <a:rPr lang="pt-BR" sz="1600" b="1" dirty="0"/>
              <a:t>         </a:t>
            </a:r>
            <a:r>
              <a:rPr lang="pt-BR" sz="1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27/10/2026</a:t>
            </a:r>
          </a:p>
        </p:txBody>
      </p:sp>
      <p:pic>
        <p:nvPicPr>
          <p:cNvPr id="25" name="Imagem 24">
            <a:extLst>
              <a:ext uri="{FF2B5EF4-FFF2-40B4-BE49-F238E27FC236}">
                <a16:creationId xmlns:a16="http://schemas.microsoft.com/office/drawing/2014/main" id="{8284EC50-346A-2727-3B84-A80EF8AAF38F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8807117"/>
            <a:ext cx="2305935" cy="794083"/>
          </a:xfrm>
          <a:prstGeom prst="rect">
            <a:avLst/>
          </a:prstGeom>
        </p:spPr>
      </p:pic>
      <p:sp>
        <p:nvSpPr>
          <p:cNvPr id="32" name="CaixaDeTexto 31">
            <a:extLst>
              <a:ext uri="{FF2B5EF4-FFF2-40B4-BE49-F238E27FC236}">
                <a16:creationId xmlns:a16="http://schemas.microsoft.com/office/drawing/2014/main" id="{E9983EEB-93C0-F9FD-9DB2-DECBCB7A126E}"/>
              </a:ext>
            </a:extLst>
          </p:cNvPr>
          <p:cNvSpPr txBox="1"/>
          <p:nvPr/>
        </p:nvSpPr>
        <p:spPr>
          <a:xfrm>
            <a:off x="0" y="8499340"/>
            <a:ext cx="31673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/>
              <a:t>LEGENDA: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D98D23A1-CBF2-64DC-DFE6-D50564CD03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67713"/>
            <a:ext cx="12801600" cy="7265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39415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2B194-3343-835D-5FB5-6A225F55D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Retângulo 140">
            <a:extLst>
              <a:ext uri="{FF2B5EF4-FFF2-40B4-BE49-F238E27FC236}">
                <a16:creationId xmlns:a16="http://schemas.microsoft.com/office/drawing/2014/main" id="{C5D020E4-F8BA-A993-5912-3495E7BDAEBC}"/>
              </a:ext>
            </a:extLst>
          </p:cNvPr>
          <p:cNvSpPr/>
          <p:nvPr/>
        </p:nvSpPr>
        <p:spPr>
          <a:xfrm>
            <a:off x="1141190" y="20310"/>
            <a:ext cx="10474279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pt-BR" sz="2800" b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MAPA VISUAL DE AVANÇO DE ISOLAMENTO DE EQUIPAMENTOS </a:t>
            </a:r>
          </a:p>
        </p:txBody>
      </p:sp>
      <p:sp>
        <p:nvSpPr>
          <p:cNvPr id="142" name="CaixaDeTexto 141">
            <a:extLst>
              <a:ext uri="{FF2B5EF4-FFF2-40B4-BE49-F238E27FC236}">
                <a16:creationId xmlns:a16="http://schemas.microsoft.com/office/drawing/2014/main" id="{D0865088-777C-9BC9-972E-5B3864497F21}"/>
              </a:ext>
            </a:extLst>
          </p:cNvPr>
          <p:cNvSpPr txBox="1"/>
          <p:nvPr/>
        </p:nvSpPr>
        <p:spPr>
          <a:xfrm>
            <a:off x="11554537" y="0"/>
            <a:ext cx="1247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     DATA</a:t>
            </a:r>
            <a:r>
              <a:rPr lang="pt-BR" sz="1600" b="1" dirty="0"/>
              <a:t>         </a:t>
            </a:r>
            <a:r>
              <a:rPr lang="pt-BR" sz="1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27/10/2026</a:t>
            </a:r>
          </a:p>
        </p:txBody>
      </p:sp>
      <p:grpSp>
        <p:nvGrpSpPr>
          <p:cNvPr id="2" name="Agrupar 1">
            <a:extLst>
              <a:ext uri="{FF2B5EF4-FFF2-40B4-BE49-F238E27FC236}">
                <a16:creationId xmlns:a16="http://schemas.microsoft.com/office/drawing/2014/main" id="{88571073-2313-A559-87B4-1578F8C75C08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123527" y="543530"/>
            <a:ext cx="12678073" cy="3892750"/>
            <a:chOff x="123527" y="673549"/>
            <a:chExt cx="12678073" cy="3892750"/>
          </a:xfrm>
        </p:grpSpPr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6DBB5C58-151D-8F42-F027-A6721079CAE2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3527" y="673549"/>
              <a:ext cx="11589346" cy="3892750"/>
            </a:xfrm>
            <a:prstGeom prst="rect">
              <a:avLst/>
            </a:prstGeom>
          </p:spPr>
        </p:pic>
        <p:pic>
          <p:nvPicPr>
            <p:cNvPr id="4" name="Imagem 3">
              <a:extLst>
                <a:ext uri="{FF2B5EF4-FFF2-40B4-BE49-F238E27FC236}">
                  <a16:creationId xmlns:a16="http://schemas.microsoft.com/office/drawing/2014/main" id="{A80E72BE-CB2F-8D3F-93D8-4377103A04AB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991757" y="752391"/>
              <a:ext cx="1809843" cy="3245017"/>
            </a:xfrm>
            <a:prstGeom prst="rect">
              <a:avLst/>
            </a:prstGeom>
          </p:spPr>
        </p:pic>
      </p:grpSp>
      <p:sp>
        <p:nvSpPr>
          <p:cNvPr id="5" name="Retângulo 4">
            <a:extLst>
              <a:ext uri="{FF2B5EF4-FFF2-40B4-BE49-F238E27FC236}">
                <a16:creationId xmlns:a16="http://schemas.microsoft.com/office/drawing/2014/main" id="{96293B18-7B71-C69D-6E2E-FA2526B7572E}"/>
              </a:ext>
            </a:extLst>
          </p:cNvPr>
          <p:cNvSpPr/>
          <p:nvPr/>
        </p:nvSpPr>
        <p:spPr>
          <a:xfrm>
            <a:off x="476250" y="711200"/>
            <a:ext cx="2273300" cy="1822450"/>
          </a:xfrm>
          <a:prstGeom prst="rect">
            <a:avLst/>
          </a:prstGeom>
          <a:solidFill>
            <a:srgbClr val="FFFF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3A4C96F1-74E9-5C08-1D68-DBF967CCC241}"/>
              </a:ext>
            </a:extLst>
          </p:cNvPr>
          <p:cNvSpPr/>
          <p:nvPr/>
        </p:nvSpPr>
        <p:spPr>
          <a:xfrm>
            <a:off x="2749550" y="711200"/>
            <a:ext cx="2012950" cy="1822450"/>
          </a:xfrm>
          <a:prstGeom prst="rect">
            <a:avLst/>
          </a:prstGeom>
          <a:solidFill>
            <a:srgbClr val="FFFF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52D99D53-8F42-6D36-1A33-29BAC5B357C0}"/>
              </a:ext>
            </a:extLst>
          </p:cNvPr>
          <p:cNvSpPr/>
          <p:nvPr/>
        </p:nvSpPr>
        <p:spPr>
          <a:xfrm>
            <a:off x="4762500" y="711200"/>
            <a:ext cx="1085850" cy="1822450"/>
          </a:xfrm>
          <a:prstGeom prst="rect">
            <a:avLst/>
          </a:prstGeom>
          <a:solidFill>
            <a:srgbClr val="FFFF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60143CA3-B044-F749-4C15-C9DF83D9D7F6}"/>
              </a:ext>
            </a:extLst>
          </p:cNvPr>
          <p:cNvSpPr/>
          <p:nvPr/>
        </p:nvSpPr>
        <p:spPr>
          <a:xfrm>
            <a:off x="5857875" y="711200"/>
            <a:ext cx="1008480" cy="1822450"/>
          </a:xfrm>
          <a:prstGeom prst="rect">
            <a:avLst/>
          </a:prstGeom>
          <a:solidFill>
            <a:srgbClr val="FFFF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92A1C9D0-D42B-F78C-16C2-6342D0285361}"/>
              </a:ext>
            </a:extLst>
          </p:cNvPr>
          <p:cNvSpPr/>
          <p:nvPr/>
        </p:nvSpPr>
        <p:spPr>
          <a:xfrm>
            <a:off x="476250" y="3054350"/>
            <a:ext cx="844550" cy="1333500"/>
          </a:xfrm>
          <a:prstGeom prst="rect">
            <a:avLst/>
          </a:prstGeom>
          <a:solidFill>
            <a:srgbClr val="FFFF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74601284-9156-CA93-6178-923052AD35C8}"/>
              </a:ext>
            </a:extLst>
          </p:cNvPr>
          <p:cNvSpPr/>
          <p:nvPr/>
        </p:nvSpPr>
        <p:spPr>
          <a:xfrm>
            <a:off x="3708400" y="3054350"/>
            <a:ext cx="1660432" cy="1333500"/>
          </a:xfrm>
          <a:prstGeom prst="rect">
            <a:avLst/>
          </a:prstGeom>
          <a:solidFill>
            <a:srgbClr val="FFFF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A8832B61-C350-821E-ACA4-70DB33771917}"/>
              </a:ext>
            </a:extLst>
          </p:cNvPr>
          <p:cNvSpPr/>
          <p:nvPr/>
        </p:nvSpPr>
        <p:spPr>
          <a:xfrm>
            <a:off x="5368832" y="3054350"/>
            <a:ext cx="619218" cy="1333500"/>
          </a:xfrm>
          <a:prstGeom prst="rect">
            <a:avLst/>
          </a:prstGeom>
          <a:solidFill>
            <a:srgbClr val="FFFF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CB842D0A-C579-E440-E1B5-C4B6FC9F63BD}"/>
              </a:ext>
            </a:extLst>
          </p:cNvPr>
          <p:cNvSpPr/>
          <p:nvPr/>
        </p:nvSpPr>
        <p:spPr>
          <a:xfrm>
            <a:off x="5988050" y="3054350"/>
            <a:ext cx="619218" cy="1333500"/>
          </a:xfrm>
          <a:prstGeom prst="rect">
            <a:avLst/>
          </a:prstGeom>
          <a:solidFill>
            <a:srgbClr val="FFFF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02CF2F32-81B4-BC1D-8282-1A1577716B40}"/>
              </a:ext>
            </a:extLst>
          </p:cNvPr>
          <p:cNvSpPr/>
          <p:nvPr/>
        </p:nvSpPr>
        <p:spPr>
          <a:xfrm>
            <a:off x="6607267" y="3054350"/>
            <a:ext cx="1435099" cy="1333500"/>
          </a:xfrm>
          <a:prstGeom prst="rect">
            <a:avLst/>
          </a:prstGeom>
          <a:solidFill>
            <a:srgbClr val="FFFF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25" name="Agrupar 24">
            <a:extLst>
              <a:ext uri="{FF2B5EF4-FFF2-40B4-BE49-F238E27FC236}">
                <a16:creationId xmlns:a16="http://schemas.microsoft.com/office/drawing/2014/main" id="{0A7B2DC8-6487-E04A-AC3F-FC6344E31629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32225" y="4436280"/>
            <a:ext cx="6582003" cy="1748271"/>
            <a:chOff x="284352" y="4402319"/>
            <a:chExt cx="6582003" cy="1748271"/>
          </a:xfrm>
        </p:grpSpPr>
        <p:pic>
          <p:nvPicPr>
            <p:cNvPr id="22" name="Imagem 21">
              <a:extLst>
                <a:ext uri="{FF2B5EF4-FFF2-40B4-BE49-F238E27FC236}">
                  <a16:creationId xmlns:a16="http://schemas.microsoft.com/office/drawing/2014/main" id="{1B0B7002-028B-ABE9-5C31-134A6D476F21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84352" y="4402319"/>
              <a:ext cx="6582003" cy="1748271"/>
            </a:xfrm>
            <a:prstGeom prst="rect">
              <a:avLst/>
            </a:prstGeom>
          </p:spPr>
        </p:pic>
        <p:sp>
          <p:nvSpPr>
            <p:cNvPr id="26" name="Retângulo 25">
              <a:extLst>
                <a:ext uri="{FF2B5EF4-FFF2-40B4-BE49-F238E27FC236}">
                  <a16:creationId xmlns:a16="http://schemas.microsoft.com/office/drawing/2014/main" id="{0BBBFEF5-E6E5-F634-B824-9C45B7FB83C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3587" y="4940896"/>
              <a:ext cx="1649414" cy="393104"/>
            </a:xfrm>
            <a:prstGeom prst="rect">
              <a:avLst/>
            </a:prstGeom>
            <a:solidFill>
              <a:schemeClr val="accent6">
                <a:lumMod val="60000"/>
                <a:lumOff val="40000"/>
                <a:alpha val="25000"/>
              </a:scheme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highlight>
                  <a:srgbClr val="00FF00"/>
                </a:highlight>
              </a:endParaRPr>
            </a:p>
          </p:txBody>
        </p:sp>
      </p:grp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7F9EBDC7-3E14-7970-004A-0D4F34183E8D}"/>
              </a:ext>
            </a:extLst>
          </p:cNvPr>
          <p:cNvSpPr txBox="1"/>
          <p:nvPr/>
        </p:nvSpPr>
        <p:spPr>
          <a:xfrm>
            <a:off x="1249939" y="1535251"/>
            <a:ext cx="795865" cy="584775"/>
          </a:xfrm>
          <a:prstGeom prst="rect">
            <a:avLst/>
          </a:prstGeom>
          <a:solidFill>
            <a:schemeClr val="bg1">
              <a:alpha val="78000"/>
            </a:schemeClr>
          </a:solidFill>
          <a:ln>
            <a:solidFill>
              <a:srgbClr val="FFC000"/>
            </a:solidFill>
          </a:ln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pt-BR" sz="800" b="1"/>
              <a:t>110</a:t>
            </a:r>
            <a:br>
              <a:rPr lang="pt-BR" sz="800" b="1"/>
            </a:br>
            <a:r>
              <a:rPr lang="pt-BR" sz="800" b="1"/>
              <a:t>74,81% (1640 m² de 2192,31 m²)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1E8DB77E-E9E6-4C7C-32E1-0D8E53D815B4}"/>
              </a:ext>
            </a:extLst>
          </p:cNvPr>
          <p:cNvSpPr txBox="1"/>
          <p:nvPr/>
        </p:nvSpPr>
        <p:spPr>
          <a:xfrm>
            <a:off x="3358092" y="1453148"/>
            <a:ext cx="795865" cy="584775"/>
          </a:xfrm>
          <a:prstGeom prst="rect">
            <a:avLst/>
          </a:prstGeom>
          <a:solidFill>
            <a:schemeClr val="bg1">
              <a:alpha val="78000"/>
            </a:schemeClr>
          </a:solidFill>
          <a:ln>
            <a:solidFill>
              <a:srgbClr val="FFC000"/>
            </a:solidFill>
          </a:ln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pt-BR" sz="800" b="1"/>
              <a:t>120</a:t>
            </a:r>
            <a:br>
              <a:rPr lang="pt-BR" sz="800" b="1"/>
            </a:br>
            <a:r>
              <a:rPr lang="pt-BR" sz="800" b="1"/>
              <a:t>0% (416,90m²)</a:t>
            </a:r>
            <a:endParaRPr lang="pt-BR" sz="800"/>
          </a:p>
          <a:p>
            <a:pPr algn="ctr"/>
            <a:endParaRPr lang="pt-BR" sz="800" b="1"/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7076BD9F-172F-DD98-9A1B-0193B1785B65}"/>
              </a:ext>
            </a:extLst>
          </p:cNvPr>
          <p:cNvSpPr txBox="1"/>
          <p:nvPr/>
        </p:nvSpPr>
        <p:spPr>
          <a:xfrm>
            <a:off x="4897874" y="1448904"/>
            <a:ext cx="795865" cy="707886"/>
          </a:xfrm>
          <a:prstGeom prst="rect">
            <a:avLst/>
          </a:prstGeom>
          <a:solidFill>
            <a:schemeClr val="bg1">
              <a:alpha val="78000"/>
            </a:schemeClr>
          </a:solidFill>
          <a:ln>
            <a:solidFill>
              <a:srgbClr val="FFC000"/>
            </a:solidFill>
          </a:ln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pt-BR" sz="800" b="1"/>
              <a:t>130</a:t>
            </a:r>
            <a:br>
              <a:rPr lang="pt-BR" sz="800" b="1"/>
            </a:br>
            <a:r>
              <a:rPr lang="pt-BR" sz="800" b="1"/>
              <a:t>98,61%(284,3m²de 288,3m²  )</a:t>
            </a:r>
            <a:endParaRPr lang="pt-BR" sz="800"/>
          </a:p>
          <a:p>
            <a:pPr algn="ctr"/>
            <a:endParaRPr lang="pt-BR" sz="800" b="1"/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C928DB64-1AE4-8107-741F-744014461FA0}"/>
              </a:ext>
            </a:extLst>
          </p:cNvPr>
          <p:cNvSpPr txBox="1"/>
          <p:nvPr/>
        </p:nvSpPr>
        <p:spPr>
          <a:xfrm>
            <a:off x="6032225" y="1479773"/>
            <a:ext cx="795865" cy="584775"/>
          </a:xfrm>
          <a:prstGeom prst="rect">
            <a:avLst/>
          </a:prstGeom>
          <a:solidFill>
            <a:schemeClr val="bg1">
              <a:alpha val="78000"/>
            </a:schemeClr>
          </a:solidFill>
          <a:ln>
            <a:solidFill>
              <a:srgbClr val="FFC000"/>
            </a:solidFill>
          </a:ln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pt-BR" sz="800" b="1" dirty="0"/>
              <a:t>140</a:t>
            </a:r>
            <a:br>
              <a:rPr lang="pt-BR" sz="800" b="1" dirty="0"/>
            </a:br>
            <a:r>
              <a:rPr lang="pt-BR" sz="800" b="1" dirty="0"/>
              <a:t>52,61% (635,00m² de 1207m²)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9300191E-E9C5-85A9-EE7B-3CD5BA311632}"/>
              </a:ext>
            </a:extLst>
          </p:cNvPr>
          <p:cNvSpPr txBox="1"/>
          <p:nvPr/>
        </p:nvSpPr>
        <p:spPr>
          <a:xfrm>
            <a:off x="510489" y="3460895"/>
            <a:ext cx="795865" cy="461665"/>
          </a:xfrm>
          <a:prstGeom prst="rect">
            <a:avLst/>
          </a:prstGeom>
          <a:solidFill>
            <a:schemeClr val="bg1">
              <a:alpha val="78000"/>
            </a:schemeClr>
          </a:solidFill>
          <a:ln>
            <a:solidFill>
              <a:srgbClr val="FFC000"/>
            </a:solidFill>
          </a:ln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pt-BR" sz="800" b="1"/>
              <a:t>210</a:t>
            </a:r>
            <a:br>
              <a:rPr lang="pt-BR" sz="800" b="1"/>
            </a:br>
            <a:r>
              <a:rPr lang="pt-BR" sz="800" b="1"/>
              <a:t>0%(12,33m²)</a:t>
            </a:r>
            <a:endParaRPr lang="pt-BR" sz="800"/>
          </a:p>
          <a:p>
            <a:pPr algn="ctr"/>
            <a:endParaRPr lang="pt-BR" sz="800" b="1"/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178084C6-3D1B-7CD5-436E-3726AE8FA0BB}"/>
              </a:ext>
            </a:extLst>
          </p:cNvPr>
          <p:cNvSpPr txBox="1"/>
          <p:nvPr/>
        </p:nvSpPr>
        <p:spPr>
          <a:xfrm>
            <a:off x="4158905" y="3425024"/>
            <a:ext cx="881209" cy="461665"/>
          </a:xfrm>
          <a:prstGeom prst="rect">
            <a:avLst/>
          </a:prstGeom>
          <a:solidFill>
            <a:schemeClr val="bg1">
              <a:alpha val="78000"/>
            </a:schemeClr>
          </a:solidFill>
          <a:ln>
            <a:solidFill>
              <a:srgbClr val="FFC000"/>
            </a:solidFill>
          </a:ln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pt-BR" sz="800" b="1"/>
              <a:t>230</a:t>
            </a:r>
          </a:p>
          <a:p>
            <a:pPr algn="ctr"/>
            <a:r>
              <a:rPr lang="pt-BR" sz="800" b="1"/>
              <a:t>90,48%(19,00m² de 21m² )</a:t>
            </a: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92D7CE93-2895-0328-39CE-4D156BD509FA}"/>
              </a:ext>
            </a:extLst>
          </p:cNvPr>
          <p:cNvSpPr txBox="1"/>
          <p:nvPr/>
        </p:nvSpPr>
        <p:spPr>
          <a:xfrm>
            <a:off x="5259071" y="3090686"/>
            <a:ext cx="795865" cy="584775"/>
          </a:xfrm>
          <a:prstGeom prst="rect">
            <a:avLst/>
          </a:prstGeom>
          <a:solidFill>
            <a:schemeClr val="bg1">
              <a:alpha val="78000"/>
            </a:schemeClr>
          </a:solidFill>
          <a:ln>
            <a:solidFill>
              <a:srgbClr val="FFC000"/>
            </a:solidFill>
          </a:ln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pt-BR" sz="800" b="1"/>
              <a:t>240</a:t>
            </a:r>
            <a:br>
              <a:rPr lang="pt-BR" sz="800" b="1"/>
            </a:br>
            <a:r>
              <a:rPr lang="pt-BR" sz="800" b="1"/>
              <a:t>60,01%(130 m² de 216,63m²)</a:t>
            </a:r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B9602022-581F-E2F6-2814-9E9BDAA2E999}"/>
              </a:ext>
            </a:extLst>
          </p:cNvPr>
          <p:cNvSpPr txBox="1"/>
          <p:nvPr/>
        </p:nvSpPr>
        <p:spPr>
          <a:xfrm>
            <a:off x="5918200" y="3698111"/>
            <a:ext cx="795865" cy="584775"/>
          </a:xfrm>
          <a:prstGeom prst="rect">
            <a:avLst/>
          </a:prstGeom>
          <a:solidFill>
            <a:schemeClr val="bg1">
              <a:alpha val="78000"/>
            </a:schemeClr>
          </a:solidFill>
          <a:ln>
            <a:solidFill>
              <a:srgbClr val="FFC000"/>
            </a:solidFill>
          </a:ln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pt-BR" sz="800" b="1"/>
              <a:t>250</a:t>
            </a:r>
            <a:br>
              <a:rPr lang="pt-BR" sz="800" b="1"/>
            </a:br>
            <a:r>
              <a:rPr lang="pt-BR" sz="800" b="1"/>
              <a:t>20,82%(42,0m² de 201,76m²)</a:t>
            </a:r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369D5219-7A01-8FB5-8E69-4608D7663AF2}"/>
              </a:ext>
            </a:extLst>
          </p:cNvPr>
          <p:cNvSpPr txBox="1"/>
          <p:nvPr/>
        </p:nvSpPr>
        <p:spPr>
          <a:xfrm>
            <a:off x="6989048" y="3426245"/>
            <a:ext cx="795865" cy="584775"/>
          </a:xfrm>
          <a:prstGeom prst="rect">
            <a:avLst/>
          </a:prstGeom>
          <a:solidFill>
            <a:schemeClr val="bg1">
              <a:alpha val="78000"/>
            </a:schemeClr>
          </a:solidFill>
          <a:ln>
            <a:solidFill>
              <a:srgbClr val="FFC000"/>
            </a:solidFill>
          </a:ln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pt-BR" sz="800" b="1"/>
              <a:t>260</a:t>
            </a:r>
            <a:br>
              <a:rPr lang="pt-BR" sz="800" b="1"/>
            </a:br>
            <a:r>
              <a:rPr lang="pt-BR" sz="800" b="1"/>
              <a:t>32,25%(47,24 m² de 146,48 m²)</a:t>
            </a:r>
            <a:endParaRPr lang="pt-BR"/>
          </a:p>
        </p:txBody>
      </p:sp>
      <p:sp>
        <p:nvSpPr>
          <p:cNvPr id="49" name="CaixaDeTexto 48">
            <a:extLst>
              <a:ext uri="{FF2B5EF4-FFF2-40B4-BE49-F238E27FC236}">
                <a16:creationId xmlns:a16="http://schemas.microsoft.com/office/drawing/2014/main" id="{6282F9A8-A4C8-9064-6472-73B82BAF1FDC}"/>
              </a:ext>
            </a:extLst>
          </p:cNvPr>
          <p:cNvSpPr txBox="1"/>
          <p:nvPr/>
        </p:nvSpPr>
        <p:spPr>
          <a:xfrm>
            <a:off x="6834851" y="4976443"/>
            <a:ext cx="966553" cy="338554"/>
          </a:xfrm>
          <a:prstGeom prst="rect">
            <a:avLst/>
          </a:prstGeom>
          <a:solidFill>
            <a:schemeClr val="bg1">
              <a:alpha val="78000"/>
            </a:schemeClr>
          </a:solidFill>
          <a:ln>
            <a:solidFill>
              <a:srgbClr val="00B050"/>
            </a:solidFill>
          </a:ln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pt-BR" sz="800" b="1"/>
              <a:t>410</a:t>
            </a:r>
            <a:br>
              <a:rPr lang="pt-BR" sz="800" b="1"/>
            </a:br>
            <a:r>
              <a:rPr lang="pt-BR" sz="800" b="1"/>
              <a:t>100% (11,23m²)</a:t>
            </a:r>
            <a:endParaRPr lang="pt-BR" sz="800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EC7B53BB-EFC0-51C6-1E79-54B9C99456CB}"/>
              </a:ext>
            </a:extLst>
          </p:cNvPr>
          <p:cNvSpPr/>
          <p:nvPr/>
        </p:nvSpPr>
        <p:spPr>
          <a:xfrm>
            <a:off x="1355039" y="3038266"/>
            <a:ext cx="2332310" cy="1333500"/>
          </a:xfrm>
          <a:prstGeom prst="rect">
            <a:avLst/>
          </a:prstGeom>
          <a:solidFill>
            <a:srgbClr val="FFFF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297EB338-A0F6-5CD9-8F46-FD824836D7A1}"/>
              </a:ext>
            </a:extLst>
          </p:cNvPr>
          <p:cNvSpPr txBox="1"/>
          <p:nvPr/>
        </p:nvSpPr>
        <p:spPr>
          <a:xfrm>
            <a:off x="1993901" y="3152240"/>
            <a:ext cx="874044" cy="461665"/>
          </a:xfrm>
          <a:prstGeom prst="rect">
            <a:avLst/>
          </a:prstGeom>
          <a:solidFill>
            <a:schemeClr val="bg1">
              <a:alpha val="78000"/>
            </a:schemeClr>
          </a:solidFill>
          <a:ln>
            <a:solidFill>
              <a:srgbClr val="FFC000"/>
            </a:solidFill>
          </a:ln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pt-BR" sz="800" b="1"/>
              <a:t>220</a:t>
            </a:r>
            <a:br>
              <a:rPr lang="pt-BR" sz="800" b="1"/>
            </a:br>
            <a:r>
              <a:rPr lang="pt-BR" sz="800" b="1"/>
              <a:t>0%(228,18m²)</a:t>
            </a:r>
            <a:endParaRPr lang="pt-BR" sz="800"/>
          </a:p>
          <a:p>
            <a:pPr algn="ctr"/>
            <a:endParaRPr lang="pt-BR" sz="800" b="1"/>
          </a:p>
        </p:txBody>
      </p:sp>
      <p:graphicFrame>
        <p:nvGraphicFramePr>
          <p:cNvPr id="18" name="Tabela 17">
            <a:extLst>
              <a:ext uri="{FF2B5EF4-FFF2-40B4-BE49-F238E27FC236}">
                <a16:creationId xmlns:a16="http://schemas.microsoft.com/office/drawing/2014/main" id="{05C6D86D-AEC3-A9B4-E234-D74939C6F2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2810446"/>
              </p:ext>
            </p:extLst>
          </p:nvPr>
        </p:nvGraphicFramePr>
        <p:xfrm>
          <a:off x="565970" y="5266801"/>
          <a:ext cx="2959667" cy="4018049"/>
        </p:xfrm>
        <a:graphic>
          <a:graphicData uri="http://schemas.openxmlformats.org/drawingml/2006/table">
            <a:tbl>
              <a:tblPr/>
              <a:tblGrid>
                <a:gridCol w="652238">
                  <a:extLst>
                    <a:ext uri="{9D8B030D-6E8A-4147-A177-3AD203B41FA5}">
                      <a16:colId xmlns:a16="http://schemas.microsoft.com/office/drawing/2014/main" val="4271829472"/>
                    </a:ext>
                  </a:extLst>
                </a:gridCol>
                <a:gridCol w="968375">
                  <a:extLst>
                    <a:ext uri="{9D8B030D-6E8A-4147-A177-3AD203B41FA5}">
                      <a16:colId xmlns:a16="http://schemas.microsoft.com/office/drawing/2014/main" val="1661459327"/>
                    </a:ext>
                  </a:extLst>
                </a:gridCol>
                <a:gridCol w="1339054">
                  <a:extLst>
                    <a:ext uri="{9D8B030D-6E8A-4147-A177-3AD203B41FA5}">
                      <a16:colId xmlns:a16="http://schemas.microsoft.com/office/drawing/2014/main" val="2961903840"/>
                    </a:ext>
                  </a:extLst>
                </a:gridCol>
              </a:tblGrid>
              <a:tr h="27577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ÁREA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STATUS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CONCLUSÃO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243027"/>
                  </a:ext>
                </a:extLst>
              </a:tr>
              <a:tr h="33711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9C5700"/>
                          </a:solidFill>
                          <a:effectLst/>
                          <a:latin typeface="Aptos Narrow" panose="020B0004020202020204" pitchFamily="34" charset="0"/>
                        </a:rPr>
                        <a:t>EM ANDAMENTO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9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17/12/2026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0658630"/>
                  </a:ext>
                </a:extLst>
              </a:tr>
              <a:tr h="33711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NÃO INICIADA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1C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17/12/2026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4938079"/>
                  </a:ext>
                </a:extLst>
              </a:tr>
              <a:tr h="33711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9C5700"/>
                          </a:solidFill>
                          <a:effectLst/>
                          <a:latin typeface="Aptos Narrow" panose="020B0004020202020204" pitchFamily="34" charset="0"/>
                        </a:rPr>
                        <a:t>EM ANDAMENTO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9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24/11/2026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5619014"/>
                  </a:ext>
                </a:extLst>
              </a:tr>
              <a:tr h="37108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280160" rtl="0" eaLnBrk="1" fontAlgn="b" latinLnBrk="0" hangingPunct="1">
                        <a:buNone/>
                      </a:pPr>
                      <a:r>
                        <a:rPr lang="pt-BR" sz="1100" b="0" i="0" u="none" strike="noStrike" kern="1200">
                          <a:solidFill>
                            <a:srgbClr val="9C57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EM ANDAMENTO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06/11/2026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9518401"/>
                  </a:ext>
                </a:extLst>
              </a:tr>
              <a:tr h="33711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NÃO INICIADA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1C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24/11/2026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3541965"/>
                  </a:ext>
                </a:extLst>
              </a:tr>
              <a:tr h="33711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8016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1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NÃO INICIADA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1C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17/12/2026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2560414"/>
                  </a:ext>
                </a:extLst>
              </a:tr>
              <a:tr h="33711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9C5700"/>
                          </a:solidFill>
                          <a:effectLst/>
                          <a:latin typeface="Aptos Narrow" panose="020B0004020202020204" pitchFamily="34" charset="0"/>
                        </a:rPr>
                        <a:t>EM ANDAMENTO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9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10/11/2026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9738729"/>
                  </a:ext>
                </a:extLst>
              </a:tr>
              <a:tr h="33711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9C5700"/>
                          </a:solidFill>
                          <a:effectLst/>
                          <a:latin typeface="Aptos Narrow" panose="020B0004020202020204" pitchFamily="34" charset="0"/>
                        </a:rPr>
                        <a:t>EM ANDAMENTO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9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24/11/2026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0067961"/>
                  </a:ext>
                </a:extLst>
              </a:tr>
              <a:tr h="33711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9C5700"/>
                          </a:solidFill>
                          <a:effectLst/>
                          <a:latin typeface="Aptos Narrow" panose="020B0004020202020204" pitchFamily="34" charset="0"/>
                        </a:rPr>
                        <a:t>EM ANDAMENTO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9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17/12/2026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2727421"/>
                  </a:ext>
                </a:extLst>
              </a:tr>
              <a:tr h="33711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9C5700"/>
                          </a:solidFill>
                          <a:effectLst/>
                          <a:latin typeface="Aptos Narrow" panose="020B0004020202020204" pitchFamily="34" charset="0"/>
                        </a:rPr>
                        <a:t>EM ANDAMENTO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9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10/11/2026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8031981"/>
                  </a:ext>
                </a:extLst>
              </a:tr>
              <a:tr h="33711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6100"/>
                          </a:solidFill>
                          <a:effectLst/>
                          <a:latin typeface="Aptos Narrow" panose="020B0004020202020204" pitchFamily="34" charset="0"/>
                        </a:rPr>
                        <a:t>CONCLUÍDO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8016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21/08/2026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9499511"/>
                  </a:ext>
                </a:extLst>
              </a:tr>
            </a:tbl>
          </a:graphicData>
        </a:graphic>
      </p:graphicFrame>
      <p:sp>
        <p:nvSpPr>
          <p:cNvPr id="21" name="CaixaDeTexto 20">
            <a:extLst>
              <a:ext uri="{FF2B5EF4-FFF2-40B4-BE49-F238E27FC236}">
                <a16:creationId xmlns:a16="http://schemas.microsoft.com/office/drawing/2014/main" id="{82AA5D64-AA22-DBB8-8E57-CBA6FD224110}"/>
              </a:ext>
            </a:extLst>
          </p:cNvPr>
          <p:cNvSpPr txBox="1"/>
          <p:nvPr/>
        </p:nvSpPr>
        <p:spPr>
          <a:xfrm>
            <a:off x="510489" y="4898919"/>
            <a:ext cx="31673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/>
              <a:t>LEGENDA DE AVANÇO:</a:t>
            </a:r>
          </a:p>
        </p:txBody>
      </p:sp>
      <p:graphicFrame>
        <p:nvGraphicFramePr>
          <p:cNvPr id="900" name="Grafico Avanco por Area"/>
          <p:cNvGraphicFramePr/>
          <p:nvPr/>
        </p:nvGraphicFramePr>
        <p:xfrm>
          <a:off x="3886200" y="6146800"/>
          <a:ext cx="8547100" cy="3098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901" name="Titulo Avanco por Area"/>
          <p:cNvSpPr txBox="1"/>
          <p:nvPr/>
        </p:nvSpPr>
        <p:spPr>
          <a:xfrm>
            <a:off x="3886200" y="5816600"/>
            <a:ext cx="3810000" cy="304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pt-BR" sz="1300" b="1">
                <a:solidFill>
                  <a:srgbClr val="404040"/>
                </a:solidFill>
              </a:rPr>
              <a:t>Avanço por área</a:t>
            </a:r>
          </a:p>
        </p:txBody>
      </p:sp>
    </p:spTree>
    <p:extLst>
      <p:ext uri="{BB962C8B-B14F-4D97-AF65-F5344CB8AC3E}">
        <p14:creationId xmlns:p14="http://schemas.microsoft.com/office/powerpoint/2010/main" val="40341803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27650-D829-112D-D263-5F0283FB7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Retângulo 140">
            <a:extLst>
              <a:ext uri="{FF2B5EF4-FFF2-40B4-BE49-F238E27FC236}">
                <a16:creationId xmlns:a16="http://schemas.microsoft.com/office/drawing/2014/main" id="{EDB504D3-A54E-65FB-EF67-E70088AA7B3C}"/>
              </a:ext>
            </a:extLst>
          </p:cNvPr>
          <p:cNvSpPr/>
          <p:nvPr/>
        </p:nvSpPr>
        <p:spPr>
          <a:xfrm>
            <a:off x="1515540" y="195362"/>
            <a:ext cx="9757287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pt-BR" sz="2800" b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ACOMPANHAMENTO VISUAL ISOLAMENTO DE TUBULAÇÃO</a:t>
            </a:r>
          </a:p>
        </p:txBody>
      </p:sp>
      <p:sp>
        <p:nvSpPr>
          <p:cNvPr id="142" name="CaixaDeTexto 141">
            <a:extLst>
              <a:ext uri="{FF2B5EF4-FFF2-40B4-BE49-F238E27FC236}">
                <a16:creationId xmlns:a16="http://schemas.microsoft.com/office/drawing/2014/main" id="{CD044DA7-6DD3-FF48-0F4B-A4BA0B0A3EE1}"/>
              </a:ext>
            </a:extLst>
          </p:cNvPr>
          <p:cNvSpPr txBox="1"/>
          <p:nvPr/>
        </p:nvSpPr>
        <p:spPr>
          <a:xfrm>
            <a:off x="11554537" y="0"/>
            <a:ext cx="1247063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1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     DATA</a:t>
            </a:r>
            <a:r>
              <a:rPr lang="pt-BR" sz="1600" b="1" dirty="0"/>
              <a:t>         </a:t>
            </a:r>
            <a:r>
              <a:rPr lang="pt-BR" sz="1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27/10/2026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A7C1F550-0F5D-4C25-8B8B-656344CD2D79}"/>
              </a:ext>
            </a:extLst>
          </p:cNvPr>
          <p:cNvSpPr txBox="1"/>
          <p:nvPr/>
        </p:nvSpPr>
        <p:spPr>
          <a:xfrm>
            <a:off x="0" y="8499340"/>
            <a:ext cx="31673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/>
              <a:t>LEGENDA: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F63BDDC7-59DF-4A1D-FB56-C60C4FB77E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173604"/>
            <a:ext cx="12789820" cy="6563736"/>
          </a:xfrm>
          <a:prstGeom prst="rect">
            <a:avLst/>
          </a:prstGeom>
        </p:spPr>
      </p:pic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E11E8AC2-5D5C-26C6-F0BF-2B61F1C492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0894400"/>
              </p:ext>
            </p:extLst>
          </p:nvPr>
        </p:nvGraphicFramePr>
        <p:xfrm>
          <a:off x="26308" y="8807117"/>
          <a:ext cx="2362200" cy="762000"/>
        </p:xfrm>
        <a:graphic>
          <a:graphicData uri="http://schemas.openxmlformats.org/drawingml/2006/table">
            <a:tbl>
              <a:tblPr/>
              <a:tblGrid>
                <a:gridCol w="660400">
                  <a:extLst>
                    <a:ext uri="{9D8B030D-6E8A-4147-A177-3AD203B41FA5}">
                      <a16:colId xmlns:a16="http://schemas.microsoft.com/office/drawing/2014/main" val="805231018"/>
                    </a:ext>
                  </a:extLst>
                </a:gridCol>
                <a:gridCol w="1701800">
                  <a:extLst>
                    <a:ext uri="{9D8B030D-6E8A-4147-A177-3AD203B41FA5}">
                      <a16:colId xmlns:a16="http://schemas.microsoft.com/office/drawing/2014/main" val="1266594944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300" b="1" i="0" u="none" strike="noStrike" dirty="0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CONCLUÍDO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963860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300" b="1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PROGRAMADO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164212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300" b="1" i="0" u="none" strike="noStrike" dirty="0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INSTALADO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6792431"/>
                  </a:ext>
                </a:extLst>
              </a:tr>
            </a:tbl>
          </a:graphicData>
        </a:graphic>
      </p:graphicFrame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4016EA52-A538-FA7F-D827-5A118987DB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648583"/>
              </p:ext>
            </p:extLst>
          </p:nvPr>
        </p:nvGraphicFramePr>
        <p:xfrm>
          <a:off x="9296400" y="1643501"/>
          <a:ext cx="3136900" cy="952500"/>
        </p:xfrm>
        <a:graphic>
          <a:graphicData uri="http://schemas.openxmlformats.org/drawingml/2006/table">
            <a:tbl>
              <a:tblPr/>
              <a:tblGrid>
                <a:gridCol w="3136900">
                  <a:extLst>
                    <a:ext uri="{9D8B030D-6E8A-4147-A177-3AD203B41FA5}">
                      <a16:colId xmlns:a16="http://schemas.microsoft.com/office/drawing/2014/main" val="2365664730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LINHAS PROGRAMADAS PARA A S70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913525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10"-HC-12-00023-C27-IQ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202934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10"-HC-12-00289-ME-IQ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02035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8"-HC-12-00260-Me-IQ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49147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12"-HC-12-00174-B28-IQ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7835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09456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4E34EF-33AC-BD1E-B5A6-1E5A79680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Retângulo 140">
            <a:extLst>
              <a:ext uri="{FF2B5EF4-FFF2-40B4-BE49-F238E27FC236}">
                <a16:creationId xmlns:a16="http://schemas.microsoft.com/office/drawing/2014/main" id="{B82BAA2D-C43D-2E45-40F5-A32614252AC6}"/>
              </a:ext>
            </a:extLst>
          </p:cNvPr>
          <p:cNvSpPr/>
          <p:nvPr/>
        </p:nvSpPr>
        <p:spPr>
          <a:xfrm>
            <a:off x="1412453" y="20310"/>
            <a:ext cx="9931758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pt-BR" sz="2800" b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MAPA VISUAL DE AVANÇO DE ISOLAMENTO DE TUBULAÇÃO </a:t>
            </a:r>
          </a:p>
        </p:txBody>
      </p:sp>
      <p:sp>
        <p:nvSpPr>
          <p:cNvPr id="142" name="CaixaDeTexto 141">
            <a:extLst>
              <a:ext uri="{FF2B5EF4-FFF2-40B4-BE49-F238E27FC236}">
                <a16:creationId xmlns:a16="http://schemas.microsoft.com/office/drawing/2014/main" id="{2E38FA05-AFEA-F835-2EF2-A5045E7B6BEA}"/>
              </a:ext>
            </a:extLst>
          </p:cNvPr>
          <p:cNvSpPr txBox="1"/>
          <p:nvPr/>
        </p:nvSpPr>
        <p:spPr>
          <a:xfrm>
            <a:off x="11554537" y="0"/>
            <a:ext cx="1247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     DATA</a:t>
            </a:r>
            <a:r>
              <a:rPr lang="pt-BR" sz="1600" b="1" dirty="0"/>
              <a:t>         </a:t>
            </a:r>
            <a:r>
              <a:rPr lang="pt-BR" sz="1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27/10/2026</a:t>
            </a:r>
          </a:p>
        </p:txBody>
      </p:sp>
      <p:graphicFrame>
        <p:nvGraphicFramePr>
          <p:cNvPr id="5" name="Tabela 4">
            <a:extLst>
              <a:ext uri="{FF2B5EF4-FFF2-40B4-BE49-F238E27FC236}">
                <a16:creationId xmlns:a16="http://schemas.microsoft.com/office/drawing/2014/main" id="{958C977A-23A2-2A20-5AEC-5B8F0CC468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064235"/>
              </p:ext>
            </p:extLst>
          </p:nvPr>
        </p:nvGraphicFramePr>
        <p:xfrm>
          <a:off x="3048000" y="888214"/>
          <a:ext cx="6096000" cy="755650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96504648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1378911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5862397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10667255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7174926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627614"/>
                    </a:ext>
                  </a:extLst>
                </a:gridCol>
              </a:tblGrid>
              <a:tr h="190500">
                <a:tc gridSpan="4"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RESUMO GERAL DE EXECUÇÃO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4041744"/>
                  </a:ext>
                </a:extLst>
              </a:tr>
              <a:tr h="374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Total (m)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Executado (m)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Restante (m)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% Executado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SOPs com avanço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Total de SOPs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020207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26.936,31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1.806,90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25.129,41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6,7%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024989"/>
                  </a:ext>
                </a:extLst>
              </a:tr>
            </a:tbl>
          </a:graphicData>
        </a:graphic>
      </p:graphicFrame>
      <p:graphicFrame>
        <p:nvGraphicFramePr>
          <p:cNvPr id="3" name="Gráfico 2">
            <a:extLst>
              <a:ext uri="{FF2B5EF4-FFF2-40B4-BE49-F238E27FC236}">
                <a16:creationId xmlns:a16="http://schemas.microsoft.com/office/drawing/2014/main" id="{7BFC7B4B-E03C-5571-B267-8CB3EA73B60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170488"/>
              </p:ext>
            </p:extLst>
          </p:nvPr>
        </p:nvGraphicFramePr>
        <p:xfrm>
          <a:off x="165100" y="1643864"/>
          <a:ext cx="12636499" cy="793702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66590366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CB76777C-67CE-487D-9E82-4E2B4F3C2BCF}">
  <we:reference id="WA200010215" version="2.0.0.0" store="Omex" storeType="OMEX"/>
  <we:alternateReferences>
    <we:reference id="WA200010215" version="2.0.0.0" store="WA200010215" storeType="OMEX"/>
  </we:alternateReferences>
  <we:properties>
    <we:property name="bps.codex_control.document_id" value="&quot;7d3dd445-d095-444b-9f5c-6f8f63234391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370D9439-5ED2-4C74-BDC8-3DE90089662A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a1e92035-0dd0-4fb3-8ad2-d9b4274efc9f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28beee7-00d6-4a8b-9979-7711ec89862e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285B02DCC98FB146B538A7DCAAD9EAAD" ma:contentTypeVersion="16" ma:contentTypeDescription="Crie um novo documento." ma:contentTypeScope="" ma:versionID="4a01ab062f587ae806f137a3cfa13680">
  <xsd:schema xmlns:xsd="http://www.w3.org/2001/XMLSchema" xmlns:xs="http://www.w3.org/2001/XMLSchema" xmlns:p="http://schemas.microsoft.com/office/2006/metadata/properties" xmlns:ns3="628beee7-00d6-4a8b-9979-7711ec89862e" xmlns:ns4="ed8bd3c1-0ca3-4ea9-ae7f-2a031503cc49" targetNamespace="http://schemas.microsoft.com/office/2006/metadata/properties" ma:root="true" ma:fieldsID="a65f8bae13c1a2b8df685e13ad7eb54c" ns3:_="" ns4:_="">
    <xsd:import namespace="628beee7-00d6-4a8b-9979-7711ec89862e"/>
    <xsd:import namespace="ed8bd3c1-0ca3-4ea9-ae7f-2a031503cc4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DateTaken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28beee7-00d6-4a8b-9979-7711ec89862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5" nillable="true" ma:displayName="_activity" ma:hidden="true" ma:internalName="_activity">
      <xsd:simpleType>
        <xsd:restriction base="dms:Note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17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8bd3c1-0ca3-4ea9-ae7f-2a031503cc49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Hash de Dica de Compartilhamento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7387192-45ED-413D-9E2E-74F589B81EB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5C791AD-99AA-4ECD-B311-96119F673E64}">
  <ds:schemaRefs>
    <ds:schemaRef ds:uri="http://www.w3.org/XML/1998/namespace"/>
    <ds:schemaRef ds:uri="http://purl.org/dc/dcmitype/"/>
    <ds:schemaRef ds:uri="http://purl.org/dc/terms/"/>
    <ds:schemaRef ds:uri="http://schemas.microsoft.com/office/infopath/2007/PartnerControls"/>
    <ds:schemaRef ds:uri="http://schemas.microsoft.com/office/2006/documentManagement/types"/>
    <ds:schemaRef ds:uri="628beee7-00d6-4a8b-9979-7711ec89862e"/>
    <ds:schemaRef ds:uri="http://schemas.microsoft.com/office/2006/metadata/properties"/>
    <ds:schemaRef ds:uri="http://schemas.openxmlformats.org/package/2006/metadata/core-properties"/>
    <ds:schemaRef ds:uri="ed8bd3c1-0ca3-4ea9-ae7f-2a031503cc49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8F84AD87-D156-44C1-AF1C-B39367CA647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28beee7-00d6-4a8b-9979-7711ec89862e"/>
    <ds:schemaRef ds:uri="ed8bd3c1-0ca3-4ea9-ae7f-2a031503cc4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77</TotalTime>
  <Words>330</Words>
  <Application>Microsoft Office PowerPoint</Application>
  <PresentationFormat>Papel A3 (297 x 420 mm)</PresentationFormat>
  <Paragraphs>107</Paragraphs>
  <Slides>5</Slides>
  <Notes>5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</vt:i4>
      </vt:variant>
    </vt:vector>
  </HeadingPairs>
  <TitlesOfParts>
    <vt:vector size="14" baseType="lpstr">
      <vt:lpstr>Aptos</vt:lpstr>
      <vt:lpstr>Aptos Display</vt:lpstr>
      <vt:lpstr>Aptos Narrow</vt:lpstr>
      <vt:lpstr>Arial</vt:lpstr>
      <vt:lpstr>Calibri</vt:lpstr>
      <vt:lpstr>Carlito</vt:lpstr>
      <vt:lpstr>Lato</vt:lpstr>
      <vt:lpstr>Segoe UI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Felipe Jose de Mendonca dos Santos</dc:creator>
  <cp:lastModifiedBy>Talison Claudino Martins do Nascimento</cp:lastModifiedBy>
  <cp:revision>4</cp:revision>
  <dcterms:created xsi:type="dcterms:W3CDTF">2026-07-13T21:29:11Z</dcterms:created>
  <dcterms:modified xsi:type="dcterms:W3CDTF">2026-10-28T01:19:29Z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0x010100285B02DCC98FB146B538A7DCAAD9EAAD</vt:lpwstr>
  </property>
</Properties>
</file>