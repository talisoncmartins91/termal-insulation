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71" r:id="rId5"/>
    <p:sldId id="450" r:id="rId6"/>
    <p:sldId id="451" r:id="rId7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C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74446F-31AC-45FB-8CFE-8C42A3ACC035}" v="16" dt="2026-10-27T12:36:20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Estilo com Tema 2 - Ênfas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7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ison Claudino Martins do Nascimento" userId="1bf49b2d-35dd-4603-b128-08dab7d336f1" providerId="ADAL" clId="{AF1BA714-5D30-460E-BF17-93D7C12114F0}"/>
    <pc:docChg chg="delSld">
      <pc:chgData name="Talison Claudino Martins do Nascimento" userId="1bf49b2d-35dd-4603-b128-08dab7d336f1" providerId="ADAL" clId="{AF1BA714-5D30-460E-BF17-93D7C12114F0}" dt="2026-10-27T17:33:49.053" v="3" actId="47"/>
      <pc:docMkLst>
        <pc:docMk/>
      </pc:docMkLst>
      <pc:sldChg chg="del">
        <pc:chgData name="Talison Claudino Martins do Nascimento" userId="1bf49b2d-35dd-4603-b128-08dab7d336f1" providerId="ADAL" clId="{AF1BA714-5D30-460E-BF17-93D7C12114F0}" dt="2026-10-27T17:33:35.799" v="0" actId="47"/>
        <pc:sldMkLst>
          <pc:docMk/>
          <pc:sldMk cId="3566971557" sldId="433"/>
        </pc:sldMkLst>
      </pc:sldChg>
      <pc:sldChg chg="del">
        <pc:chgData name="Talison Claudino Martins do Nascimento" userId="1bf49b2d-35dd-4603-b128-08dab7d336f1" providerId="ADAL" clId="{AF1BA714-5D30-460E-BF17-93D7C12114F0}" dt="2026-10-27T17:33:46.435" v="2" actId="47"/>
        <pc:sldMkLst>
          <pc:docMk/>
          <pc:sldMk cId="1103941574" sldId="436"/>
        </pc:sldMkLst>
      </pc:sldChg>
      <pc:sldChg chg="del">
        <pc:chgData name="Talison Claudino Martins do Nascimento" userId="1bf49b2d-35dd-4603-b128-08dab7d336f1" providerId="ADAL" clId="{AF1BA714-5D30-460E-BF17-93D7C12114F0}" dt="2026-10-27T17:33:36.433" v="1" actId="47"/>
        <pc:sldMkLst>
          <pc:docMk/>
          <pc:sldMk cId="1258252159" sldId="459"/>
        </pc:sldMkLst>
      </pc:sldChg>
      <pc:sldChg chg="del">
        <pc:chgData name="Talison Claudino Martins do Nascimento" userId="1bf49b2d-35dd-4603-b128-08dab7d336f1" providerId="ADAL" clId="{AF1BA714-5D30-460E-BF17-93D7C12114F0}" dt="2026-10-27T17:33:49.053" v="3" actId="47"/>
        <pc:sldMkLst>
          <pc:docMk/>
          <pc:sldMk cId="4034180360" sldId="46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ndradegutierrez365-my.sharepoint.com/personal/giulia_picciano_agnet_com_br/Documents/!RNEST%20-%20UDA/PCP%20-%20CIV,%20ISO%20E%20PINT%20UDA%20RNEST/0.%20PLANILHA%20DE%20CONTROLE%20CIV,%20ISO%20E%20PINT/ISOLAMENTO/CURVA%20ISOLAMENTO%20TUBULA&#199;&#195;O/CURVA%25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'[CURVA ISOLAMENTO TUBULAÇÃO_STH_REUNIAO_COORDENAÇÃO.xlsx]Avanço por SOP'!$AB$3</c:f>
              <c:strCache>
                <c:ptCount val="1"/>
                <c:pt idx="0">
                  <c:v>Concluído</c:v>
                </c:pt>
              </c:strCache>
            </c:strRef>
          </c:tx>
          <c:spPr>
            <a:solidFill>
              <a:srgbClr val="A9D18E"/>
            </a:solidFill>
            <a:ln w="25400">
              <a:noFill/>
            </a:ln>
            <a:effectLst/>
          </c:spPr>
          <c:invertIfNegative val="0"/>
          <c:cat>
            <c:strRef>
              <c:f>'[CURVA ISOLAMENTO TUBULAÇÃO_STH_REUNIAO_COORDENAÇÃO.xlsx]Avanço por SOP'!$AA$4:$AA$48</c:f>
              <c:strCache>
                <c:ptCount val="45"/>
                <c:pt idx="0">
                  <c:v>0012-0001-0069</c:v>
                </c:pt>
                <c:pt idx="1">
                  <c:v>0012-0023-0009</c:v>
                </c:pt>
                <c:pt idx="2">
                  <c:v>0012-0039-0012</c:v>
                </c:pt>
                <c:pt idx="3">
                  <c:v>0012-0040-0013</c:v>
                </c:pt>
                <c:pt idx="4">
                  <c:v>0012-0043-0015</c:v>
                </c:pt>
                <c:pt idx="5">
                  <c:v>0012-0045-0031</c:v>
                </c:pt>
                <c:pt idx="6">
                  <c:v>0012-0050-0048</c:v>
                </c:pt>
                <c:pt idx="7">
                  <c:v>0012-0050-0050</c:v>
                </c:pt>
                <c:pt idx="8">
                  <c:v>0012-0050-0051</c:v>
                </c:pt>
                <c:pt idx="9">
                  <c:v>0012-0052-0017</c:v>
                </c:pt>
                <c:pt idx="10">
                  <c:v>0012-0060-0016</c:v>
                </c:pt>
                <c:pt idx="11">
                  <c:v>0012-0060-0019</c:v>
                </c:pt>
                <c:pt idx="12">
                  <c:v>0012-0061-0020</c:v>
                </c:pt>
                <c:pt idx="13">
                  <c:v>0012-0062-0039</c:v>
                </c:pt>
                <c:pt idx="14">
                  <c:v>0012-0063-0021</c:v>
                </c:pt>
                <c:pt idx="15">
                  <c:v>0012-0066-0065</c:v>
                </c:pt>
                <c:pt idx="16">
                  <c:v>0012-0081-0025</c:v>
                </c:pt>
                <c:pt idx="17">
                  <c:v>0012-0081-0063</c:v>
                </c:pt>
                <c:pt idx="18">
                  <c:v>0012-0082-0026</c:v>
                </c:pt>
                <c:pt idx="19">
                  <c:v>0012-0084-0027</c:v>
                </c:pt>
                <c:pt idx="20">
                  <c:v>0012-0085-0028</c:v>
                </c:pt>
                <c:pt idx="21">
                  <c:v>0012-0088-0029</c:v>
                </c:pt>
                <c:pt idx="22">
                  <c:v>0012-0096-0030</c:v>
                </c:pt>
                <c:pt idx="23">
                  <c:v>0012-0101-0032</c:v>
                </c:pt>
                <c:pt idx="24">
                  <c:v>0012-0102-0033</c:v>
                </c:pt>
                <c:pt idx="25">
                  <c:v>0012-0104-0035</c:v>
                </c:pt>
                <c:pt idx="26">
                  <c:v>0012-0105-0036</c:v>
                </c:pt>
                <c:pt idx="27">
                  <c:v>0012-0106-0037</c:v>
                </c:pt>
                <c:pt idx="28">
                  <c:v>0012-0107-0038</c:v>
                </c:pt>
                <c:pt idx="29">
                  <c:v>0012-0109-0040</c:v>
                </c:pt>
                <c:pt idx="30">
                  <c:v>0012-0110-0041</c:v>
                </c:pt>
                <c:pt idx="31">
                  <c:v>0012-0111-0042</c:v>
                </c:pt>
                <c:pt idx="32">
                  <c:v>0012-0112-0043</c:v>
                </c:pt>
                <c:pt idx="33">
                  <c:v>0012-0113-0044</c:v>
                </c:pt>
                <c:pt idx="34">
                  <c:v>0012-0114-0045</c:v>
                </c:pt>
                <c:pt idx="35">
                  <c:v>0012-0115-0046</c:v>
                </c:pt>
                <c:pt idx="36">
                  <c:v>0012-0118-0049</c:v>
                </c:pt>
                <c:pt idx="37">
                  <c:v>0012-0124-0055</c:v>
                </c:pt>
                <c:pt idx="38">
                  <c:v>0012-0129-0062</c:v>
                </c:pt>
                <c:pt idx="39">
                  <c:v>0012-0131-0064</c:v>
                </c:pt>
                <c:pt idx="40">
                  <c:v>0012-0133-0066</c:v>
                </c:pt>
                <c:pt idx="41">
                  <c:v>0012-0136-0070</c:v>
                </c:pt>
                <c:pt idx="42">
                  <c:v>1200-5550-0016</c:v>
                </c:pt>
                <c:pt idx="43">
                  <c:v>LINHA NÃO CADASTRADA NO CT</c:v>
                </c:pt>
                <c:pt idx="44">
                  <c:v>NÃO DEFINIDO</c:v>
                </c:pt>
              </c:strCache>
            </c:strRef>
          </c:cat>
          <c:val>
            <c:numRef>
              <c:f>'[CURVA ISOLAMENTO TUBULAÇÃO_STH_REUNIAO_COORDENAÇÃO.xlsx]Avanço por SOP'!$AB$4:$AB$48</c:f>
              <c:numCache>
                <c:formatCode>0.0%</c:formatCode>
                <c:ptCount val="4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4F-4F2F-BF3F-226CF29ADE08}"/>
            </c:ext>
          </c:extLst>
        </c:ser>
        <c:ser>
          <c:idx val="1"/>
          <c:order val="1"/>
          <c:tx>
            <c:strRef>
              <c:f>'[CURVA ISOLAMENTO TUBULAÇÃO_STH_REUNIAO_COORDENAÇÃO.xlsx]Avanço por SOP'!$AC$3</c:f>
              <c:strCache>
                <c:ptCount val="1"/>
                <c:pt idx="0">
                  <c:v>Em andamento</c:v>
                </c:pt>
              </c:strCache>
            </c:strRef>
          </c:tx>
          <c:spPr>
            <a:solidFill>
              <a:srgbClr val="DCCB6E"/>
            </a:solidFill>
            <a:ln w="25400">
              <a:noFill/>
            </a:ln>
            <a:effectLst/>
          </c:spPr>
          <c:invertIfNegative val="0"/>
          <c:cat>
            <c:strRef>
              <c:f>'[CURVA ISOLAMENTO TUBULAÇÃO_STH_REUNIAO_COORDENAÇÃO.xlsx]Avanço por SOP'!$AA$4:$AA$48</c:f>
              <c:strCache>
                <c:ptCount val="45"/>
                <c:pt idx="0">
                  <c:v>0012-0001-0069</c:v>
                </c:pt>
                <c:pt idx="1">
                  <c:v>0012-0023-0009</c:v>
                </c:pt>
                <c:pt idx="2">
                  <c:v>0012-0039-0012</c:v>
                </c:pt>
                <c:pt idx="3">
                  <c:v>0012-0040-0013</c:v>
                </c:pt>
                <c:pt idx="4">
                  <c:v>0012-0043-0015</c:v>
                </c:pt>
                <c:pt idx="5">
                  <c:v>0012-0045-0031</c:v>
                </c:pt>
                <c:pt idx="6">
                  <c:v>0012-0050-0048</c:v>
                </c:pt>
                <c:pt idx="7">
                  <c:v>0012-0050-0050</c:v>
                </c:pt>
                <c:pt idx="8">
                  <c:v>0012-0050-0051</c:v>
                </c:pt>
                <c:pt idx="9">
                  <c:v>0012-0052-0017</c:v>
                </c:pt>
                <c:pt idx="10">
                  <c:v>0012-0060-0016</c:v>
                </c:pt>
                <c:pt idx="11">
                  <c:v>0012-0060-0019</c:v>
                </c:pt>
                <c:pt idx="12">
                  <c:v>0012-0061-0020</c:v>
                </c:pt>
                <c:pt idx="13">
                  <c:v>0012-0062-0039</c:v>
                </c:pt>
                <c:pt idx="14">
                  <c:v>0012-0063-0021</c:v>
                </c:pt>
                <c:pt idx="15">
                  <c:v>0012-0066-0065</c:v>
                </c:pt>
                <c:pt idx="16">
                  <c:v>0012-0081-0025</c:v>
                </c:pt>
                <c:pt idx="17">
                  <c:v>0012-0081-0063</c:v>
                </c:pt>
                <c:pt idx="18">
                  <c:v>0012-0082-0026</c:v>
                </c:pt>
                <c:pt idx="19">
                  <c:v>0012-0084-0027</c:v>
                </c:pt>
                <c:pt idx="20">
                  <c:v>0012-0085-0028</c:v>
                </c:pt>
                <c:pt idx="21">
                  <c:v>0012-0088-0029</c:v>
                </c:pt>
                <c:pt idx="22">
                  <c:v>0012-0096-0030</c:v>
                </c:pt>
                <c:pt idx="23">
                  <c:v>0012-0101-0032</c:v>
                </c:pt>
                <c:pt idx="24">
                  <c:v>0012-0102-0033</c:v>
                </c:pt>
                <c:pt idx="25">
                  <c:v>0012-0104-0035</c:v>
                </c:pt>
                <c:pt idx="26">
                  <c:v>0012-0105-0036</c:v>
                </c:pt>
                <c:pt idx="27">
                  <c:v>0012-0106-0037</c:v>
                </c:pt>
                <c:pt idx="28">
                  <c:v>0012-0107-0038</c:v>
                </c:pt>
                <c:pt idx="29">
                  <c:v>0012-0109-0040</c:v>
                </c:pt>
                <c:pt idx="30">
                  <c:v>0012-0110-0041</c:v>
                </c:pt>
                <c:pt idx="31">
                  <c:v>0012-0111-0042</c:v>
                </c:pt>
                <c:pt idx="32">
                  <c:v>0012-0112-0043</c:v>
                </c:pt>
                <c:pt idx="33">
                  <c:v>0012-0113-0044</c:v>
                </c:pt>
                <c:pt idx="34">
                  <c:v>0012-0114-0045</c:v>
                </c:pt>
                <c:pt idx="35">
                  <c:v>0012-0115-0046</c:v>
                </c:pt>
                <c:pt idx="36">
                  <c:v>0012-0118-0049</c:v>
                </c:pt>
                <c:pt idx="37">
                  <c:v>0012-0124-0055</c:v>
                </c:pt>
                <c:pt idx="38">
                  <c:v>0012-0129-0062</c:v>
                </c:pt>
                <c:pt idx="39">
                  <c:v>0012-0131-0064</c:v>
                </c:pt>
                <c:pt idx="40">
                  <c:v>0012-0133-0066</c:v>
                </c:pt>
                <c:pt idx="41">
                  <c:v>0012-0136-0070</c:v>
                </c:pt>
                <c:pt idx="42">
                  <c:v>1200-5550-0016</c:v>
                </c:pt>
                <c:pt idx="43">
                  <c:v>LINHA NÃO CADASTRADA NO CT</c:v>
                </c:pt>
                <c:pt idx="44">
                  <c:v>NÃO DEFINIDO</c:v>
                </c:pt>
              </c:strCache>
            </c:strRef>
          </c:cat>
          <c:val>
            <c:numRef>
              <c:f>'[CURVA ISOLAMENTO TUBULAÇÃO_STH_REUNIAO_COORDENAÇÃO.xlsx]Avanço por SOP'!$AC$4:$AC$48</c:f>
              <c:numCache>
                <c:formatCode>0.0%</c:formatCode>
                <c:ptCount val="45"/>
                <c:pt idx="0">
                  <c:v>0</c:v>
                </c:pt>
                <c:pt idx="1">
                  <c:v>0</c:v>
                </c:pt>
                <c:pt idx="2">
                  <c:v>0.10914232230705373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0.41986883971211469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6.7910776025455286E-3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2.6714856674960812E-2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0.74125163110398573</c:v>
                </c:pt>
                <c:pt idx="29">
                  <c:v>0.20148830954293226</c:v>
                </c:pt>
                <c:pt idx="30">
                  <c:v>0.25590924046008195</c:v>
                </c:pt>
                <c:pt idx="31">
                  <c:v>0.36401979639605553</c:v>
                </c:pt>
                <c:pt idx="32">
                  <c:v>0.25522292384533313</c:v>
                </c:pt>
                <c:pt idx="33">
                  <c:v>0</c:v>
                </c:pt>
                <c:pt idx="34">
                  <c:v>0.59103118753693984</c:v>
                </c:pt>
                <c:pt idx="35">
                  <c:v>0.94653526493610229</c:v>
                </c:pt>
                <c:pt idx="36">
                  <c:v>0.59333341425464192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0.73665205337198092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4F-4F2F-BF3F-226CF29ADE08}"/>
            </c:ext>
          </c:extLst>
        </c:ser>
        <c:ser>
          <c:idx val="2"/>
          <c:order val="2"/>
          <c:tx>
            <c:strRef>
              <c:f>'[CURVA ISOLAMENTO TUBULAÇÃO_STH_REUNIAO_COORDENAÇÃO.xlsx]Avanço por SOP'!$AD$3</c:f>
              <c:strCache>
                <c:ptCount val="1"/>
                <c:pt idx="0">
                  <c:v>Restante</c:v>
                </c:pt>
              </c:strCache>
            </c:strRef>
          </c:tx>
          <c:spPr>
            <a:solidFill>
              <a:srgbClr val="E3E6EA"/>
            </a:solidFill>
            <a:ln w="25400">
              <a:noFill/>
            </a:ln>
            <a:effectLst/>
          </c:spPr>
          <c:invertIfNegative val="0"/>
          <c:cat>
            <c:strRef>
              <c:f>'[CURVA ISOLAMENTO TUBULAÇÃO_STH_REUNIAO_COORDENAÇÃO.xlsx]Avanço por SOP'!$AA$4:$AA$48</c:f>
              <c:strCache>
                <c:ptCount val="45"/>
                <c:pt idx="0">
                  <c:v>0012-0001-0069</c:v>
                </c:pt>
                <c:pt idx="1">
                  <c:v>0012-0023-0009</c:v>
                </c:pt>
                <c:pt idx="2">
                  <c:v>0012-0039-0012</c:v>
                </c:pt>
                <c:pt idx="3">
                  <c:v>0012-0040-0013</c:v>
                </c:pt>
                <c:pt idx="4">
                  <c:v>0012-0043-0015</c:v>
                </c:pt>
                <c:pt idx="5">
                  <c:v>0012-0045-0031</c:v>
                </c:pt>
                <c:pt idx="6">
                  <c:v>0012-0050-0048</c:v>
                </c:pt>
                <c:pt idx="7">
                  <c:v>0012-0050-0050</c:v>
                </c:pt>
                <c:pt idx="8">
                  <c:v>0012-0050-0051</c:v>
                </c:pt>
                <c:pt idx="9">
                  <c:v>0012-0052-0017</c:v>
                </c:pt>
                <c:pt idx="10">
                  <c:v>0012-0060-0016</c:v>
                </c:pt>
                <c:pt idx="11">
                  <c:v>0012-0060-0019</c:v>
                </c:pt>
                <c:pt idx="12">
                  <c:v>0012-0061-0020</c:v>
                </c:pt>
                <c:pt idx="13">
                  <c:v>0012-0062-0039</c:v>
                </c:pt>
                <c:pt idx="14">
                  <c:v>0012-0063-0021</c:v>
                </c:pt>
                <c:pt idx="15">
                  <c:v>0012-0066-0065</c:v>
                </c:pt>
                <c:pt idx="16">
                  <c:v>0012-0081-0025</c:v>
                </c:pt>
                <c:pt idx="17">
                  <c:v>0012-0081-0063</c:v>
                </c:pt>
                <c:pt idx="18">
                  <c:v>0012-0082-0026</c:v>
                </c:pt>
                <c:pt idx="19">
                  <c:v>0012-0084-0027</c:v>
                </c:pt>
                <c:pt idx="20">
                  <c:v>0012-0085-0028</c:v>
                </c:pt>
                <c:pt idx="21">
                  <c:v>0012-0088-0029</c:v>
                </c:pt>
                <c:pt idx="22">
                  <c:v>0012-0096-0030</c:v>
                </c:pt>
                <c:pt idx="23">
                  <c:v>0012-0101-0032</c:v>
                </c:pt>
                <c:pt idx="24">
                  <c:v>0012-0102-0033</c:v>
                </c:pt>
                <c:pt idx="25">
                  <c:v>0012-0104-0035</c:v>
                </c:pt>
                <c:pt idx="26">
                  <c:v>0012-0105-0036</c:v>
                </c:pt>
                <c:pt idx="27">
                  <c:v>0012-0106-0037</c:v>
                </c:pt>
                <c:pt idx="28">
                  <c:v>0012-0107-0038</c:v>
                </c:pt>
                <c:pt idx="29">
                  <c:v>0012-0109-0040</c:v>
                </c:pt>
                <c:pt idx="30">
                  <c:v>0012-0110-0041</c:v>
                </c:pt>
                <c:pt idx="31">
                  <c:v>0012-0111-0042</c:v>
                </c:pt>
                <c:pt idx="32">
                  <c:v>0012-0112-0043</c:v>
                </c:pt>
                <c:pt idx="33">
                  <c:v>0012-0113-0044</c:v>
                </c:pt>
                <c:pt idx="34">
                  <c:v>0012-0114-0045</c:v>
                </c:pt>
                <c:pt idx="35">
                  <c:v>0012-0115-0046</c:v>
                </c:pt>
                <c:pt idx="36">
                  <c:v>0012-0118-0049</c:v>
                </c:pt>
                <c:pt idx="37">
                  <c:v>0012-0124-0055</c:v>
                </c:pt>
                <c:pt idx="38">
                  <c:v>0012-0129-0062</c:v>
                </c:pt>
                <c:pt idx="39">
                  <c:v>0012-0131-0064</c:v>
                </c:pt>
                <c:pt idx="40">
                  <c:v>0012-0133-0066</c:v>
                </c:pt>
                <c:pt idx="41">
                  <c:v>0012-0136-0070</c:v>
                </c:pt>
                <c:pt idx="42">
                  <c:v>1200-5550-0016</c:v>
                </c:pt>
                <c:pt idx="43">
                  <c:v>LINHA NÃO CADASTRADA NO CT</c:v>
                </c:pt>
                <c:pt idx="44">
                  <c:v>NÃO DEFINIDO</c:v>
                </c:pt>
              </c:strCache>
            </c:strRef>
          </c:cat>
          <c:val>
            <c:numRef>
              <c:f>'[CURVA ISOLAMENTO TUBULAÇÃO_STH_REUNIAO_COORDENAÇÃO.xlsx]Avanço por SOP'!$AD$4:$AD$48</c:f>
              <c:numCache>
                <c:formatCode>0.0%</c:formatCode>
                <c:ptCount val="45"/>
                <c:pt idx="0">
                  <c:v>1</c:v>
                </c:pt>
                <c:pt idx="1">
                  <c:v>1</c:v>
                </c:pt>
                <c:pt idx="2">
                  <c:v>0.89085767769294621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0.58013116028788536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0.99320892239745451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0.97328514332503924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0.25874836889601427</c:v>
                </c:pt>
                <c:pt idx="29">
                  <c:v>0.79851169045706771</c:v>
                </c:pt>
                <c:pt idx="30">
                  <c:v>0.74409075953991799</c:v>
                </c:pt>
                <c:pt idx="31">
                  <c:v>0.63598020360394447</c:v>
                </c:pt>
                <c:pt idx="32">
                  <c:v>0.74477707615466682</c:v>
                </c:pt>
                <c:pt idx="33">
                  <c:v>1</c:v>
                </c:pt>
                <c:pt idx="34">
                  <c:v>0.40896881246306016</c:v>
                </c:pt>
                <c:pt idx="35">
                  <c:v>5.3464735063897706E-2</c:v>
                </c:pt>
                <c:pt idx="36">
                  <c:v>0.40666658574535808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0.26334794662801908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4F-4F2F-BF3F-226CF29ADE08}"/>
            </c:ext>
          </c:extLst>
        </c:ser>
        <c:ser>
          <c:idx val="3"/>
          <c:order val="3"/>
          <c:tx>
            <c:strRef>
              <c:f>'[CURVA ISOLAMENTO TUBULAÇÃO_STH_REUNIAO_COORDENAÇÃO.xlsx]Avanço por SOP'!$AE$3</c:f>
              <c:strCache>
                <c:ptCount val="1"/>
                <c:pt idx="0">
                  <c:v>Espaço rótulo</c:v>
                </c:pt>
              </c:strCache>
            </c:strRef>
          </c:tx>
          <c:spPr>
            <a:noFill/>
            <a:ln w="25400">
              <a:noFill/>
            </a:ln>
            <a:effectLst/>
          </c:spPr>
          <c:invertIfNegative val="0"/>
          <c:dLbls>
            <c:dLbl>
              <c:idx val="0"/>
              <c:tx>
                <c:strRef>
                  <c:f>'[CURVA ISOLAMENTO TUBULAÇÃO_STH_REUNIAO_COORDENAÇÃO.xlsx]Avanço por SOP'!$AG$4</c:f>
                  <c:strCache>
                    <c:ptCount val="1"/>
                    <c:pt idx="0">
                      <c:v>0,0%     0,00/9,90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{14C03EAA-A008-4BAE-AB4D-CDBA4C9C163C}</c15:txfldGUID>
                      <c15:f>'[CURVA ISOLAMENTO TUBULAÇÃO_STH_REUNIAO_COORDENAÇÃO.xlsx]Avanço por SOP'!$AG$4</c15:f>
                      <c15:dlblFieldTableCache>
                        <c:ptCount val="1"/>
                        <c:pt idx="0">
                          <c:v>0,0%     0,00/9,90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0A4F-4F2F-BF3F-226CF29ADE08}"/>
                </c:ext>
              </c:extLst>
            </c:dLbl>
            <c:dLbl>
              <c:idx val="1"/>
              <c:tx>
                <c:strRef>
                  <c:f>'[CURVA ISOLAMENTO TUBULAÇÃO_STH_REUNIAO_COORDENAÇÃO.xlsx]Avanço por SOP'!$AG$5</c:f>
                  <c:strCache>
                    <c:ptCount val="1"/>
                    <c:pt idx="0">
                      <c:v>0,0%     0,00/0,63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{47D50A7D-633C-42ED-BB75-2140081B43E4}</c15:txfldGUID>
                      <c15:f>'[CURVA ISOLAMENTO TUBULAÇÃO_STH_REUNIAO_COORDENAÇÃO.xlsx]Avanço por SOP'!$AG$5</c15:f>
                      <c15:dlblFieldTableCache>
                        <c:ptCount val="1"/>
                        <c:pt idx="0">
                          <c:v>0,0%     0,00/0,63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4-0A4F-4F2F-BF3F-226CF29ADE08}"/>
                </c:ext>
              </c:extLst>
            </c:dLbl>
            <c:dLbl>
              <c:idx val="2"/>
              <c:tx>
                <c:strRef>
                  <c:f>'[CURVA ISOLAMENTO TUBULAÇÃO_STH_REUNIAO_COORDENAÇÃO.xlsx]Avanço por SOP'!$AG$6</c:f>
                  <c:strCache>
                    <c:ptCount val="1"/>
                    <c:pt idx="0">
                      <c:v>10,9%     207,64/1.902,48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{C985FFE0-6EAA-4E51-BFA5-CB6EB2EADD1D}</c15:txfldGUID>
                      <c15:f>'[CURVA ISOLAMENTO TUBULAÇÃO_STH_REUNIAO_COORDENAÇÃO.xlsx]Avanço por SOP'!$AG$6</c15:f>
                      <c15:dlblFieldTableCache>
                        <c:ptCount val="1"/>
                        <c:pt idx="0">
                          <c:v>10,9%     207,64/1.902,48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5-0A4F-4F2F-BF3F-226CF29ADE08}"/>
                </c:ext>
              </c:extLst>
            </c:dLbl>
            <c:dLbl>
              <c:idx val="3"/>
              <c:tx>
                <c:strRef>
                  <c:f>'[CURVA ISOLAMENTO TUBULAÇÃO_STH_REUNIAO_COORDENAÇÃO.xlsx]Avanço por SOP'!$AG$7</c:f>
                  <c:strCache>
                    <c:ptCount val="1"/>
                    <c:pt idx="0">
                      <c:v>0,0%     0,00/30,35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{5EC9A069-BECB-4D52-BEA4-6A2A8407CB3C}</c15:txfldGUID>
                      <c15:f>'[CURVA ISOLAMENTO TUBULAÇÃO_STH_REUNIAO_COORDENAÇÃO.xlsx]Avanço por SOP'!$AG$7</c15:f>
                      <c15:dlblFieldTableCache>
                        <c:ptCount val="1"/>
                        <c:pt idx="0">
                          <c:v>0,0%     0,00/30,35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6-0A4F-4F2F-BF3F-226CF29ADE08}"/>
                </c:ext>
              </c:extLst>
            </c:dLbl>
            <c:dLbl>
              <c:idx val="4"/>
              <c:tx>
                <c:strRef>
                  <c:f>'[CURVA ISOLAMENTO TUBULAÇÃO_STH_REUNIAO_COORDENAÇÃO.xlsx]Avanço por SOP'!$AG$8</c:f>
                  <c:strCache>
                    <c:ptCount val="1"/>
                    <c:pt idx="0">
                      <c:v>0,0%     0,00/1.964,91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{78A64C39-139F-494C-A6E7-72C730612EEC}</c15:txfldGUID>
                      <c15:f>'[CURVA ISOLAMENTO TUBULAÇÃO_STH_REUNIAO_COORDENAÇÃO.xlsx]Avanço por SOP'!$AG$8</c15:f>
                      <c15:dlblFieldTableCache>
                        <c:ptCount val="1"/>
                        <c:pt idx="0">
                          <c:v>0,0%     0,00/1.964,91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7-0A4F-4F2F-BF3F-226CF29ADE08}"/>
                </c:ext>
              </c:extLst>
            </c:dLbl>
            <c:dLbl>
              <c:idx val="5"/>
              <c:tx>
                <c:strRef>
                  <c:f>'[CURVA ISOLAMENTO TUBULAÇÃO_STH_REUNIAO_COORDENAÇÃO.xlsx]Avanço por SOP'!$AG$9</c:f>
                  <c:strCache>
                    <c:ptCount val="1"/>
                    <c:pt idx="0">
                      <c:v>0,0%     0,00/1.194,54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{CABCA520-DA27-4BC1-B4BA-33AC146833CC}</c15:txfldGUID>
                      <c15:f>'[CURVA ISOLAMENTO TUBULAÇÃO_STH_REUNIAO_COORDENAÇÃO.xlsx]Avanço por SOP'!$AG$9</c15:f>
                      <c15:dlblFieldTableCache>
                        <c:ptCount val="1"/>
                        <c:pt idx="0">
                          <c:v>0,0%     0,00/1.194,54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8-0A4F-4F2F-BF3F-226CF29ADE08}"/>
                </c:ext>
              </c:extLst>
            </c:dLbl>
            <c:dLbl>
              <c:idx val="6"/>
              <c:tx>
                <c:strRef>
                  <c:f>'[CURVA ISOLAMENTO TUBULAÇÃO_STH_REUNIAO_COORDENAÇÃO.xlsx]Avanço por SOP'!$AG$10</c:f>
                  <c:strCache>
                    <c:ptCount val="1"/>
                    <c:pt idx="0">
                      <c:v>0,0%     0,00/30,99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{C8078BDA-B7A2-4126-BBA6-AC4870D94F2A}</c15:txfldGUID>
                      <c15:f>'[CURVA ISOLAMENTO TUBULAÇÃO_STH_REUNIAO_COORDENAÇÃO.xlsx]Avanço por SOP'!$AG$10</c15:f>
                      <c15:dlblFieldTableCache>
                        <c:ptCount val="1"/>
                        <c:pt idx="0">
                          <c:v>0,0%     0,00/30,99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9-0A4F-4F2F-BF3F-226CF29ADE08}"/>
                </c:ext>
              </c:extLst>
            </c:dLbl>
            <c:dLbl>
              <c:idx val="7"/>
              <c:tx>
                <c:strRef>
                  <c:f>'[CURVA ISOLAMENTO TUBULAÇÃO_STH_REUNIAO_COORDENAÇÃO.xlsx]Avanço por SOP'!$AG$11</c:f>
                  <c:strCache>
                    <c:ptCount val="1"/>
                    <c:pt idx="0">
                      <c:v>0,0%     0,00/5,54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{DDB273D0-807B-4E33-A53F-4BACC9CDFA39}</c15:txfldGUID>
                      <c15:f>'[CURVA ISOLAMENTO TUBULAÇÃO_STH_REUNIAO_COORDENAÇÃO.xlsx]Avanço por SOP'!$AG$11</c15:f>
                      <c15:dlblFieldTableCache>
                        <c:ptCount val="1"/>
                        <c:pt idx="0">
                          <c:v>0,0%     0,00/5,54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A-0A4F-4F2F-BF3F-226CF29ADE08}"/>
                </c:ext>
              </c:extLst>
            </c:dLbl>
            <c:dLbl>
              <c:idx val="8"/>
              <c:tx>
                <c:strRef>
                  <c:f>'[CURVA ISOLAMENTO TUBULAÇÃO_STH_REUNIAO_COORDENAÇÃO.xlsx]Avanço por SOP'!$AG$12</c:f>
                  <c:strCache>
                    <c:ptCount val="1"/>
                    <c:pt idx="0">
                      <c:v>0,0%     0,00/2,83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{6463958D-F7AF-4790-A089-2C2FB39BA5B4}</c15:txfldGUID>
                      <c15:f>'[CURVA ISOLAMENTO TUBULAÇÃO_STH_REUNIAO_COORDENAÇÃO.xlsx]Avanço por SOP'!$AG$12</c15:f>
                      <c15:dlblFieldTableCache>
                        <c:ptCount val="1"/>
                        <c:pt idx="0">
                          <c:v>0,0%     0,00/2,83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B-0A4F-4F2F-BF3F-226CF29ADE08}"/>
                </c:ext>
              </c:extLst>
            </c:dLbl>
            <c:dLbl>
              <c:idx val="9"/>
              <c:tx>
                <c:strRef>
                  <c:f>'[CURVA ISOLAMENTO TUBULAÇÃO_STH_REUNIAO_COORDENAÇÃO.xlsx]Avanço por SOP'!$AG$13</c:f>
                  <c:strCache>
                    <c:ptCount val="1"/>
                    <c:pt idx="0">
                      <c:v>0,0%     0,00/1.092,76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{1E5F8848-A04D-49FE-A4FB-6165311E9A34}</c15:txfldGUID>
                      <c15:f>'[CURVA ISOLAMENTO TUBULAÇÃO_STH_REUNIAO_COORDENAÇÃO.xlsx]Avanço por SOP'!$AG$13</c15:f>
                      <c15:dlblFieldTableCache>
                        <c:ptCount val="1"/>
                        <c:pt idx="0">
                          <c:v>0,0%     0,00/1.092,76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C-0A4F-4F2F-BF3F-226CF29ADE08}"/>
                </c:ext>
              </c:extLst>
            </c:dLbl>
            <c:dLbl>
              <c:idx val="10"/>
              <c:tx>
                <c:strRef>
                  <c:f>'[CURVA ISOLAMENTO TUBULAÇÃO_STH_REUNIAO_COORDENAÇÃO.xlsx]Avanço por SOP'!$AG$14</c:f>
                  <c:strCache>
                    <c:ptCount val="1"/>
                    <c:pt idx="0">
                      <c:v>0,0%     0,00/103,47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{8347D315-4D10-4B5B-B650-7C019DEBC413}</c15:txfldGUID>
                      <c15:f>'[CURVA ISOLAMENTO TUBULAÇÃO_STH_REUNIAO_COORDENAÇÃO.xlsx]Avanço por SOP'!$AG$14</c15:f>
                      <c15:dlblFieldTableCache>
                        <c:ptCount val="1"/>
                        <c:pt idx="0">
                          <c:v>0,0%     0,00/103,47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D-0A4F-4F2F-BF3F-226CF29ADE08}"/>
                </c:ext>
              </c:extLst>
            </c:dLbl>
            <c:dLbl>
              <c:idx val="11"/>
              <c:tx>
                <c:strRef>
                  <c:f>'[CURVA ISOLAMENTO TUBULAÇÃO_STH_REUNIAO_COORDENAÇÃO.xlsx]Avanço por SOP'!$AG$15</c:f>
                  <c:strCache>
                    <c:ptCount val="1"/>
                    <c:pt idx="0">
                      <c:v>0,0%     0,00/679,57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{DE146697-506A-410A-9933-06387EEBFBAE}</c15:txfldGUID>
                      <c15:f>'[CURVA ISOLAMENTO TUBULAÇÃO_STH_REUNIAO_COORDENAÇÃO.xlsx]Avanço por SOP'!$AG$15</c15:f>
                      <c15:dlblFieldTableCache>
                        <c:ptCount val="1"/>
                        <c:pt idx="0">
                          <c:v>0,0%     0,00/679,57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E-0A4F-4F2F-BF3F-226CF29ADE08}"/>
                </c:ext>
              </c:extLst>
            </c:dLbl>
            <c:dLbl>
              <c:idx val="12"/>
              <c:tx>
                <c:strRef>
                  <c:f>'[CURVA ISOLAMENTO TUBULAÇÃO_STH_REUNIAO_COORDENAÇÃO.xlsx]Avanço por SOP'!$AG$16</c:f>
                  <c:strCache>
                    <c:ptCount val="1"/>
                    <c:pt idx="0">
                      <c:v>0,0%     0,00/231,94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{36A1913D-D30A-4610-BC4A-3C4164775652}</c15:txfldGUID>
                      <c15:f>'[CURVA ISOLAMENTO TUBULAÇÃO_STH_REUNIAO_COORDENAÇÃO.xlsx]Avanço por SOP'!$AG$16</c15:f>
                      <c15:dlblFieldTableCache>
                        <c:ptCount val="1"/>
                        <c:pt idx="0">
                          <c:v>0,0%     0,00/231,94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F-0A4F-4F2F-BF3F-226CF29ADE08}"/>
                </c:ext>
              </c:extLst>
            </c:dLbl>
            <c:dLbl>
              <c:idx val="13"/>
              <c:tx>
                <c:strRef>
                  <c:f>'[CURVA ISOLAMENTO TUBULAÇÃO_STH_REUNIAO_COORDENAÇÃO.xlsx]Avanço por SOP'!$AG$17</c:f>
                  <c:strCache>
                    <c:ptCount val="1"/>
                    <c:pt idx="0">
                      <c:v>42,0%     174,48/415,56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{BB662102-4196-42ED-A207-A6621C6C2C9C}</c15:txfldGUID>
                      <c15:f>'[CURVA ISOLAMENTO TUBULAÇÃO_STH_REUNIAO_COORDENAÇÃO.xlsx]Avanço por SOP'!$AG$17</c15:f>
                      <c15:dlblFieldTableCache>
                        <c:ptCount val="1"/>
                        <c:pt idx="0">
                          <c:v>42,0%     174,48/415,56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0-0A4F-4F2F-BF3F-226CF29ADE08}"/>
                </c:ext>
              </c:extLst>
            </c:dLbl>
            <c:dLbl>
              <c:idx val="14"/>
              <c:tx>
                <c:strRef>
                  <c:f>'[CURVA ISOLAMENTO TUBULAÇÃO_STH_REUNIAO_COORDENAÇÃO.xlsx]Avanço por SOP'!$AG$18</c:f>
                  <c:strCache>
                    <c:ptCount val="1"/>
                    <c:pt idx="0">
                      <c:v>0,0%     0,00/86,40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{47155266-50B6-4B24-B7B5-8DD86AB33B08}</c15:txfldGUID>
                      <c15:f>'[CURVA ISOLAMENTO TUBULAÇÃO_STH_REUNIAO_COORDENAÇÃO.xlsx]Avanço por SOP'!$AG$18</c15:f>
                      <c15:dlblFieldTableCache>
                        <c:ptCount val="1"/>
                        <c:pt idx="0">
                          <c:v>0,0%     0,00/86,40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1-0A4F-4F2F-BF3F-226CF29ADE08}"/>
                </c:ext>
              </c:extLst>
            </c:dLbl>
            <c:dLbl>
              <c:idx val="15"/>
              <c:tx>
                <c:strRef>
                  <c:f>'[CURVA ISOLAMENTO TUBULAÇÃO_STH_REUNIAO_COORDENAÇÃO.xlsx]Avanço por SOP'!$AG$19</c:f>
                  <c:strCache>
                    <c:ptCount val="1"/>
                    <c:pt idx="0">
                      <c:v>0,0%     0,00/32,67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{0E7711DD-9EDF-4156-ABDE-B9579D7C2B2E}</c15:txfldGUID>
                      <c15:f>'[CURVA ISOLAMENTO TUBULAÇÃO_STH_REUNIAO_COORDENAÇÃO.xlsx]Avanço por SOP'!$AG$19</c15:f>
                      <c15:dlblFieldTableCache>
                        <c:ptCount val="1"/>
                        <c:pt idx="0">
                          <c:v>0,0%     0,00/32,67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2-0A4F-4F2F-BF3F-226CF29ADE08}"/>
                </c:ext>
              </c:extLst>
            </c:dLbl>
            <c:dLbl>
              <c:idx val="16"/>
              <c:tx>
                <c:strRef>
                  <c:f>'[CURVA ISOLAMENTO TUBULAÇÃO_STH_REUNIAO_COORDENAÇÃO.xlsx]Avanço por SOP'!$AG$20</c:f>
                  <c:strCache>
                    <c:ptCount val="1"/>
                    <c:pt idx="0">
                      <c:v>0,0%     0,00/87,92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{1B7BBF64-E8D1-4B9B-95B6-967029FE557D}</c15:txfldGUID>
                      <c15:f>'[CURVA ISOLAMENTO TUBULAÇÃO_STH_REUNIAO_COORDENAÇÃO.xlsx]Avanço por SOP'!$AG$20</c15:f>
                      <c15:dlblFieldTableCache>
                        <c:ptCount val="1"/>
                        <c:pt idx="0">
                          <c:v>0,0%     0,00/87,92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3-0A4F-4F2F-BF3F-226CF29ADE08}"/>
                </c:ext>
              </c:extLst>
            </c:dLbl>
            <c:dLbl>
              <c:idx val="17"/>
              <c:tx>
                <c:strRef>
                  <c:f>'[CURVA ISOLAMENTO TUBULAÇÃO_STH_REUNIAO_COORDENAÇÃO.xlsx]Avanço por SOP'!$AG$21</c:f>
                  <c:strCache>
                    <c:ptCount val="1"/>
                    <c:pt idx="0">
                      <c:v>0,0%     0,00/5,22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{B7BEB707-332F-4A91-892B-56D7EAD4889A}</c15:txfldGUID>
                      <c15:f>'[CURVA ISOLAMENTO TUBULAÇÃO_STH_REUNIAO_COORDENAÇÃO.xlsx]Avanço por SOP'!$AG$21</c15:f>
                      <c15:dlblFieldTableCache>
                        <c:ptCount val="1"/>
                        <c:pt idx="0">
                          <c:v>0,0%     0,00/5,22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4-0A4F-4F2F-BF3F-226CF29ADE08}"/>
                </c:ext>
              </c:extLst>
            </c:dLbl>
            <c:dLbl>
              <c:idx val="18"/>
              <c:tx>
                <c:strRef>
                  <c:f>'[CURVA ISOLAMENTO TUBULAÇÃO_STH_REUNIAO_COORDENAÇÃO.xlsx]Avanço por SOP'!$AG$22</c:f>
                  <c:strCache>
                    <c:ptCount val="1"/>
                    <c:pt idx="0">
                      <c:v>0,0%     0,00/49,62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{89C423D2-CF30-42F7-8475-3769ECC104FA}</c15:txfldGUID>
                      <c15:f>'[CURVA ISOLAMENTO TUBULAÇÃO_STH_REUNIAO_COORDENAÇÃO.xlsx]Avanço por SOP'!$AG$22</c15:f>
                      <c15:dlblFieldTableCache>
                        <c:ptCount val="1"/>
                        <c:pt idx="0">
                          <c:v>0,0%     0,00/49,62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5-0A4F-4F2F-BF3F-226CF29ADE08}"/>
                </c:ext>
              </c:extLst>
            </c:dLbl>
            <c:dLbl>
              <c:idx val="19"/>
              <c:tx>
                <c:strRef>
                  <c:f>'[CURVA ISOLAMENTO TUBULAÇÃO_STH_REUNIAO_COORDENAÇÃO.xlsx]Avanço por SOP'!$AG$23</c:f>
                  <c:strCache>
                    <c:ptCount val="1"/>
                    <c:pt idx="0">
                      <c:v>0,0%     0,00/2.709,81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{199D5B06-8138-4574-9EE1-9D5A09CB6E6F}</c15:txfldGUID>
                      <c15:f>'[CURVA ISOLAMENTO TUBULAÇÃO_STH_REUNIAO_COORDENAÇÃO.xlsx]Avanço por SOP'!$AG$23</c15:f>
                      <c15:dlblFieldTableCache>
                        <c:ptCount val="1"/>
                        <c:pt idx="0">
                          <c:v>0,0%     0,00/2.709,81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6-0A4F-4F2F-BF3F-226CF29ADE08}"/>
                </c:ext>
              </c:extLst>
            </c:dLbl>
            <c:dLbl>
              <c:idx val="20"/>
              <c:tx>
                <c:strRef>
                  <c:f>'[CURVA ISOLAMENTO TUBULAÇÃO_STH_REUNIAO_COORDENAÇÃO.xlsx]Avanço por SOP'!$AG$24</c:f>
                  <c:strCache>
                    <c:ptCount val="1"/>
                    <c:pt idx="0">
                      <c:v>0,7%     39,50/5.816,82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{D3F15265-6D3F-4955-921C-93286E04492E}</c15:txfldGUID>
                      <c15:f>'[CURVA ISOLAMENTO TUBULAÇÃO_STH_REUNIAO_COORDENAÇÃO.xlsx]Avanço por SOP'!$AG$24</c15:f>
                      <c15:dlblFieldTableCache>
                        <c:ptCount val="1"/>
                        <c:pt idx="0">
                          <c:v>0,7%     39,50/5.816,82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7-0A4F-4F2F-BF3F-226CF29ADE08}"/>
                </c:ext>
              </c:extLst>
            </c:dLbl>
            <c:dLbl>
              <c:idx val="21"/>
              <c:tx>
                <c:strRef>
                  <c:f>'[CURVA ISOLAMENTO TUBULAÇÃO_STH_REUNIAO_COORDENAÇÃO.xlsx]Avanço por SOP'!$AG$25</c:f>
                  <c:strCache>
                    <c:ptCount val="1"/>
                    <c:pt idx="0">
                      <c:v>0,0%     0,00/321,91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{CA775C8A-9F8A-47A7-B4D2-074158454E14}</c15:txfldGUID>
                      <c15:f>'[CURVA ISOLAMENTO TUBULAÇÃO_STH_REUNIAO_COORDENAÇÃO.xlsx]Avanço por SOP'!$AG$25</c15:f>
                      <c15:dlblFieldTableCache>
                        <c:ptCount val="1"/>
                        <c:pt idx="0">
                          <c:v>0,0%     0,00/321,91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8-0A4F-4F2F-BF3F-226CF29ADE08}"/>
                </c:ext>
              </c:extLst>
            </c:dLbl>
            <c:dLbl>
              <c:idx val="22"/>
              <c:tx>
                <c:strRef>
                  <c:f>'[CURVA ISOLAMENTO TUBULAÇÃO_STH_REUNIAO_COORDENAÇÃO.xlsx]Avanço por SOP'!$AG$26</c:f>
                  <c:strCache>
                    <c:ptCount val="1"/>
                    <c:pt idx="0">
                      <c:v>0,0%     0,00/14,41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{BDF4B0C8-8D74-4932-9B5C-0F1AAAD7A7C8}</c15:txfldGUID>
                      <c15:f>'[CURVA ISOLAMENTO TUBULAÇÃO_STH_REUNIAO_COORDENAÇÃO.xlsx]Avanço por SOP'!$AG$26</c15:f>
                      <c15:dlblFieldTableCache>
                        <c:ptCount val="1"/>
                        <c:pt idx="0">
                          <c:v>0,0%     0,00/14,41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9-0A4F-4F2F-BF3F-226CF29ADE08}"/>
                </c:ext>
              </c:extLst>
            </c:dLbl>
            <c:dLbl>
              <c:idx val="23"/>
              <c:tx>
                <c:strRef>
                  <c:f>'[CURVA ISOLAMENTO TUBULAÇÃO_STH_REUNIAO_COORDENAÇÃO.xlsx]Avanço por SOP'!$AG$27</c:f>
                  <c:strCache>
                    <c:ptCount val="1"/>
                    <c:pt idx="0">
                      <c:v>0,0%     0,00/856,96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{154FDE9E-DE0B-4BCA-8E46-62F09F1BE2A5}</c15:txfldGUID>
                      <c15:f>'[CURVA ISOLAMENTO TUBULAÇÃO_STH_REUNIAO_COORDENAÇÃO.xlsx]Avanço por SOP'!$AG$27</c15:f>
                      <c15:dlblFieldTableCache>
                        <c:ptCount val="1"/>
                        <c:pt idx="0">
                          <c:v>0,0%     0,00/856,96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A-0A4F-4F2F-BF3F-226CF29ADE08}"/>
                </c:ext>
              </c:extLst>
            </c:dLbl>
            <c:dLbl>
              <c:idx val="24"/>
              <c:tx>
                <c:strRef>
                  <c:f>'[CURVA ISOLAMENTO TUBULAÇÃO_STH_REUNIAO_COORDENAÇÃO.xlsx]Avanço por SOP'!$AG$28</c:f>
                  <c:strCache>
                    <c:ptCount val="1"/>
                    <c:pt idx="0">
                      <c:v>2,7%     56,63/2.119,97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{3C6C3975-5775-41EA-B7C7-2FD483D2B7DA}</c15:txfldGUID>
                      <c15:f>'[CURVA ISOLAMENTO TUBULAÇÃO_STH_REUNIAO_COORDENAÇÃO.xlsx]Avanço por SOP'!$AG$28</c15:f>
                      <c15:dlblFieldTableCache>
                        <c:ptCount val="1"/>
                        <c:pt idx="0">
                          <c:v>2,7%     56,63/2.119,97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B-0A4F-4F2F-BF3F-226CF29ADE08}"/>
                </c:ext>
              </c:extLst>
            </c:dLbl>
            <c:dLbl>
              <c:idx val="25"/>
              <c:tx>
                <c:strRef>
                  <c:f>'[CURVA ISOLAMENTO TUBULAÇÃO_STH_REUNIAO_COORDENAÇÃO.xlsx]Avanço por SOP'!$AG$29</c:f>
                  <c:strCache>
                    <c:ptCount val="1"/>
                    <c:pt idx="0">
                      <c:v>0,0%     0,00/201,08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{5A58538D-2998-48CF-9F0C-B3BE1FD02440}</c15:txfldGUID>
                      <c15:f>'[CURVA ISOLAMENTO TUBULAÇÃO_STH_REUNIAO_COORDENAÇÃO.xlsx]Avanço por SOP'!$AG$29</c15:f>
                      <c15:dlblFieldTableCache>
                        <c:ptCount val="1"/>
                        <c:pt idx="0">
                          <c:v>0,0%     0,00/201,08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C-0A4F-4F2F-BF3F-226CF29ADE08}"/>
                </c:ext>
              </c:extLst>
            </c:dLbl>
            <c:dLbl>
              <c:idx val="26"/>
              <c:tx>
                <c:strRef>
                  <c:f>'[CURVA ISOLAMENTO TUBULAÇÃO_STH_REUNIAO_COORDENAÇÃO.xlsx]Avanço por SOP'!$AG$30</c:f>
                  <c:strCache>
                    <c:ptCount val="1"/>
                    <c:pt idx="0">
                      <c:v>0,0%     0,00/1.284,94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{F6D06062-9FB5-4EA5-9772-F1CDCB7A2E4E}</c15:txfldGUID>
                      <c15:f>'[CURVA ISOLAMENTO TUBULAÇÃO_STH_REUNIAO_COORDENAÇÃO.xlsx]Avanço por SOP'!$AG$30</c15:f>
                      <c15:dlblFieldTableCache>
                        <c:ptCount val="1"/>
                        <c:pt idx="0">
                          <c:v>0,0%     0,00/1.284,94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D-0A4F-4F2F-BF3F-226CF29ADE08}"/>
                </c:ext>
              </c:extLst>
            </c:dLbl>
            <c:dLbl>
              <c:idx val="27"/>
              <c:tx>
                <c:strRef>
                  <c:f>'[CURVA ISOLAMENTO TUBULAÇÃO_STH_REUNIAO_COORDENAÇÃO.xlsx]Avanço por SOP'!$AG$31</c:f>
                  <c:strCache>
                    <c:ptCount val="1"/>
                    <c:pt idx="0">
                      <c:v>0,0%     0,00/161,82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{BEE9CE66-1452-4C01-93EB-4A61EFEB3C48}</c15:txfldGUID>
                      <c15:f>'[CURVA ISOLAMENTO TUBULAÇÃO_STH_REUNIAO_COORDENAÇÃO.xlsx]Avanço por SOP'!$AG$31</c15:f>
                      <c15:dlblFieldTableCache>
                        <c:ptCount val="1"/>
                        <c:pt idx="0">
                          <c:v>0,0%     0,00/161,82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E-0A4F-4F2F-BF3F-226CF29ADE08}"/>
                </c:ext>
              </c:extLst>
            </c:dLbl>
            <c:dLbl>
              <c:idx val="28"/>
              <c:tx>
                <c:strRef>
                  <c:f>'[CURVA ISOLAMENTO TUBULAÇÃO_STH_REUNIAO_COORDENAÇÃO.xlsx]Avanço por SOP'!$AG$32</c:f>
                  <c:strCache>
                    <c:ptCount val="1"/>
                    <c:pt idx="0">
                      <c:v>74,1%     123,55/166,67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{1FD9AD3D-2592-466A-A770-AC3D35231477}</c15:txfldGUID>
                      <c15:f>'[CURVA ISOLAMENTO TUBULAÇÃO_STH_REUNIAO_COORDENAÇÃO.xlsx]Avanço por SOP'!$AG$32</c15:f>
                      <c15:dlblFieldTableCache>
                        <c:ptCount val="1"/>
                        <c:pt idx="0">
                          <c:v>74,1%     123,55/166,67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F-0A4F-4F2F-BF3F-226CF29ADE08}"/>
                </c:ext>
              </c:extLst>
            </c:dLbl>
            <c:dLbl>
              <c:idx val="29"/>
              <c:tx>
                <c:strRef>
                  <c:f>'[CURVA ISOLAMENTO TUBULAÇÃO_STH_REUNIAO_COORDENAÇÃO.xlsx]Avanço por SOP'!$AG$33</c:f>
                  <c:strCache>
                    <c:ptCount val="1"/>
                    <c:pt idx="0">
                      <c:v>20,1%     181,01/898,38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{0CB67725-223C-467C-B4C1-89186B47E74E}</c15:txfldGUID>
                      <c15:f>'[CURVA ISOLAMENTO TUBULAÇÃO_STH_REUNIAO_COORDENAÇÃO.xlsx]Avanço por SOP'!$AG$33</c15:f>
                      <c15:dlblFieldTableCache>
                        <c:ptCount val="1"/>
                        <c:pt idx="0">
                          <c:v>20,1%     181,01/898,38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0-0A4F-4F2F-BF3F-226CF29ADE08}"/>
                </c:ext>
              </c:extLst>
            </c:dLbl>
            <c:dLbl>
              <c:idx val="30"/>
              <c:tx>
                <c:strRef>
                  <c:f>'[CURVA ISOLAMENTO TUBULAÇÃO_STH_REUNIAO_COORDENAÇÃO.xlsx]Avanço por SOP'!$AG$34</c:f>
                  <c:strCache>
                    <c:ptCount val="1"/>
                    <c:pt idx="0">
                      <c:v>25,6%     109,59/428,26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{D3C4A06A-5EF8-44A2-B6B1-B47023824260}</c15:txfldGUID>
                      <c15:f>'[CURVA ISOLAMENTO TUBULAÇÃO_STH_REUNIAO_COORDENAÇÃO.xlsx]Avanço por SOP'!$AG$34</c15:f>
                      <c15:dlblFieldTableCache>
                        <c:ptCount val="1"/>
                        <c:pt idx="0">
                          <c:v>25,6%     109,59/428,26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1-0A4F-4F2F-BF3F-226CF29ADE08}"/>
                </c:ext>
              </c:extLst>
            </c:dLbl>
            <c:dLbl>
              <c:idx val="31"/>
              <c:tx>
                <c:strRef>
                  <c:f>'[CURVA ISOLAMENTO TUBULAÇÃO_STH_REUNIAO_COORDENAÇÃO.xlsx]Avanço por SOP'!$AG$35</c:f>
                  <c:strCache>
                    <c:ptCount val="1"/>
                    <c:pt idx="0">
                      <c:v>36,4%     142,82/392,34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{15B1EAD8-26C1-48CD-B4CC-744A875B8AB7}</c15:txfldGUID>
                      <c15:f>'[CURVA ISOLAMENTO TUBULAÇÃO_STH_REUNIAO_COORDENAÇÃO.xlsx]Avanço por SOP'!$AG$35</c15:f>
                      <c15:dlblFieldTableCache>
                        <c:ptCount val="1"/>
                        <c:pt idx="0">
                          <c:v>36,4%     142,82/392,34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2-0A4F-4F2F-BF3F-226CF29ADE08}"/>
                </c:ext>
              </c:extLst>
            </c:dLbl>
            <c:dLbl>
              <c:idx val="32"/>
              <c:tx>
                <c:strRef>
                  <c:f>'[CURVA ISOLAMENTO TUBULAÇÃO_STH_REUNIAO_COORDENAÇÃO.xlsx]Avanço por SOP'!$AG$36</c:f>
                  <c:strCache>
                    <c:ptCount val="1"/>
                    <c:pt idx="0">
                      <c:v>25,5%     101,73/398,58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{673FF33F-A063-4E77-A419-2925F7964DD7}</c15:txfldGUID>
                      <c15:f>'[CURVA ISOLAMENTO TUBULAÇÃO_STH_REUNIAO_COORDENAÇÃO.xlsx]Avanço por SOP'!$AG$36</c15:f>
                      <c15:dlblFieldTableCache>
                        <c:ptCount val="1"/>
                        <c:pt idx="0">
                          <c:v>25,5%     101,73/398,58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3-0A4F-4F2F-BF3F-226CF29ADE08}"/>
                </c:ext>
              </c:extLst>
            </c:dLbl>
            <c:dLbl>
              <c:idx val="33"/>
              <c:tx>
                <c:strRef>
                  <c:f>'[CURVA ISOLAMENTO TUBULAÇÃO_STH_REUNIAO_COORDENAÇÃO.xlsx]Avanço por SOP'!$AG$37</c:f>
                  <c:strCache>
                    <c:ptCount val="1"/>
                    <c:pt idx="0">
                      <c:v>0,0%     0,00/90,40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{C74B9AE8-2534-45AD-9D11-F4EF4DD04BCA}</c15:txfldGUID>
                      <c15:f>'[CURVA ISOLAMENTO TUBULAÇÃO_STH_REUNIAO_COORDENAÇÃO.xlsx]Avanço por SOP'!$AG$37</c15:f>
                      <c15:dlblFieldTableCache>
                        <c:ptCount val="1"/>
                        <c:pt idx="0">
                          <c:v>0,0%     0,00/90,40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4-0A4F-4F2F-BF3F-226CF29ADE08}"/>
                </c:ext>
              </c:extLst>
            </c:dLbl>
            <c:dLbl>
              <c:idx val="34"/>
              <c:tx>
                <c:strRef>
                  <c:f>'[CURVA ISOLAMENTO TUBULAÇÃO_STH_REUNIAO_COORDENAÇÃO.xlsx]Avanço por SOP'!$AG$38</c:f>
                  <c:strCache>
                    <c:ptCount val="1"/>
                    <c:pt idx="0">
                      <c:v>59,1%     288,26/487,73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{8B974745-E205-48B0-8191-7CD581BD29EC}</c15:txfldGUID>
                      <c15:f>'[CURVA ISOLAMENTO TUBULAÇÃO_STH_REUNIAO_COORDENAÇÃO.xlsx]Avanço por SOP'!$AG$38</c15:f>
                      <c15:dlblFieldTableCache>
                        <c:ptCount val="1"/>
                        <c:pt idx="0">
                          <c:v>59,1%     288,26/487,73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5-0A4F-4F2F-BF3F-226CF29ADE08}"/>
                </c:ext>
              </c:extLst>
            </c:dLbl>
            <c:dLbl>
              <c:idx val="35"/>
              <c:tx>
                <c:strRef>
                  <c:f>'[CURVA ISOLAMENTO TUBULAÇÃO_STH_REUNIAO_COORDENAÇÃO.xlsx]Avanço por SOP'!$AG$39</c:f>
                  <c:strCache>
                    <c:ptCount val="1"/>
                    <c:pt idx="0">
                      <c:v>94,7%     252,57/266,83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{E6486CFA-7880-4088-B987-42CEF4B30C0B}</c15:txfldGUID>
                      <c15:f>'[CURVA ISOLAMENTO TUBULAÇÃO_STH_REUNIAO_COORDENAÇÃO.xlsx]Avanço por SOP'!$AG$39</c15:f>
                      <c15:dlblFieldTableCache>
                        <c:ptCount val="1"/>
                        <c:pt idx="0">
                          <c:v>94,7%     252,57/266,83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6-0A4F-4F2F-BF3F-226CF29ADE08}"/>
                </c:ext>
              </c:extLst>
            </c:dLbl>
            <c:dLbl>
              <c:idx val="36"/>
              <c:tx>
                <c:strRef>
                  <c:f>'[CURVA ISOLAMENTO TUBULAÇÃO_STH_REUNIAO_COORDENAÇÃO.xlsx]Avanço por SOP'!$AG$40</c:f>
                  <c:strCache>
                    <c:ptCount val="1"/>
                    <c:pt idx="0">
                      <c:v>59,3%     91,83/154,77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{129DCBF0-19FE-46A3-B4C2-7ABB971025A3}</c15:txfldGUID>
                      <c15:f>'[CURVA ISOLAMENTO TUBULAÇÃO_STH_REUNIAO_COORDENAÇÃO.xlsx]Avanço por SOP'!$AG$40</c15:f>
                      <c15:dlblFieldTableCache>
                        <c:ptCount val="1"/>
                        <c:pt idx="0">
                          <c:v>59,3%     91,83/154,77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7-0A4F-4F2F-BF3F-226CF29ADE08}"/>
                </c:ext>
              </c:extLst>
            </c:dLbl>
            <c:dLbl>
              <c:idx val="37"/>
              <c:tx>
                <c:strRef>
                  <c:f>'[CURVA ISOLAMENTO TUBULAÇÃO_STH_REUNIAO_COORDENAÇÃO.xlsx]Avanço por SOP'!$AG$41</c:f>
                  <c:strCache>
                    <c:ptCount val="1"/>
                    <c:pt idx="0">
                      <c:v>0,0%     0,00/14,84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{191A016D-73DF-40CC-B6DA-2ACFA684DB54}</c15:txfldGUID>
                      <c15:f>'[CURVA ISOLAMENTO TUBULAÇÃO_STH_REUNIAO_COORDENAÇÃO.xlsx]Avanço por SOP'!$AG$41</c15:f>
                      <c15:dlblFieldTableCache>
                        <c:ptCount val="1"/>
                        <c:pt idx="0">
                          <c:v>0,0%     0,00/14,84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8-0A4F-4F2F-BF3F-226CF29ADE08}"/>
                </c:ext>
              </c:extLst>
            </c:dLbl>
            <c:dLbl>
              <c:idx val="38"/>
              <c:tx>
                <c:strRef>
                  <c:f>'[CURVA ISOLAMENTO TUBULAÇÃO_STH_REUNIAO_COORDENAÇÃO.xlsx]Avanço por SOP'!$AG$42</c:f>
                  <c:strCache>
                    <c:ptCount val="1"/>
                    <c:pt idx="0">
                      <c:v>0,0%     0,00/1,43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{0F3BEC20-64AB-45EF-9848-7F86E53AFFD6}</c15:txfldGUID>
                      <c15:f>'[CURVA ISOLAMENTO TUBULAÇÃO_STH_REUNIAO_COORDENAÇÃO.xlsx]Avanço por SOP'!$AG$42</c15:f>
                      <c15:dlblFieldTableCache>
                        <c:ptCount val="1"/>
                        <c:pt idx="0">
                          <c:v>0,0%     0,00/1,43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9-0A4F-4F2F-BF3F-226CF29ADE08}"/>
                </c:ext>
              </c:extLst>
            </c:dLbl>
            <c:dLbl>
              <c:idx val="39"/>
              <c:tx>
                <c:strRef>
                  <c:f>'[CURVA ISOLAMENTO TUBULAÇÃO_STH_REUNIAO_COORDENAÇÃO.xlsx]Avanço por SOP'!$AG$43</c:f>
                  <c:strCache>
                    <c:ptCount val="1"/>
                    <c:pt idx="0">
                      <c:v>0,0%     0,00/1.488,24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{D775A80C-C115-4D81-832D-50BD0D378377}</c15:txfldGUID>
                      <c15:f>'[CURVA ISOLAMENTO TUBULAÇÃO_STH_REUNIAO_COORDENAÇÃO.xlsx]Avanço por SOP'!$AG$43</c15:f>
                      <c15:dlblFieldTableCache>
                        <c:ptCount val="1"/>
                        <c:pt idx="0">
                          <c:v>0,0%     0,00/1.488,24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A-0A4F-4F2F-BF3F-226CF29ADE08}"/>
                </c:ext>
              </c:extLst>
            </c:dLbl>
            <c:dLbl>
              <c:idx val="40"/>
              <c:tx>
                <c:strRef>
                  <c:f>'[CURVA ISOLAMENTO TUBULAÇÃO_STH_REUNIAO_COORDENAÇÃO.xlsx]Avanço por SOP'!$AG$44</c:f>
                  <c:strCache>
                    <c:ptCount val="1"/>
                    <c:pt idx="0">
                      <c:v>0,0%     0,00/350,11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{011D73DE-FFA0-4157-8611-0A1AA6DF1C64}</c15:txfldGUID>
                      <c15:f>'[CURVA ISOLAMENTO TUBULAÇÃO_STH_REUNIAO_COORDENAÇÃO.xlsx]Avanço por SOP'!$AG$44</c15:f>
                      <c15:dlblFieldTableCache>
                        <c:ptCount val="1"/>
                        <c:pt idx="0">
                          <c:v>0,0%     0,00/350,11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B-0A4F-4F2F-BF3F-226CF29ADE08}"/>
                </c:ext>
              </c:extLst>
            </c:dLbl>
            <c:dLbl>
              <c:idx val="41"/>
              <c:tx>
                <c:strRef>
                  <c:f>'[CURVA ISOLAMENTO TUBULAÇÃO_STH_REUNIAO_COORDENAÇÃO.xlsx]Avanço por SOP'!$AG$45</c:f>
                  <c:strCache>
                    <c:ptCount val="1"/>
                    <c:pt idx="0">
                      <c:v>73,7%     37,28/50,61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{40F79D68-172B-41C3-BC1C-B6FE11FBD0AD}</c15:txfldGUID>
                      <c15:f>'[CURVA ISOLAMENTO TUBULAÇÃO_STH_REUNIAO_COORDENAÇÃO.xlsx]Avanço por SOP'!$AG$45</c15:f>
                      <c15:dlblFieldTableCache>
                        <c:ptCount val="1"/>
                        <c:pt idx="0">
                          <c:v>73,7%     37,28/50,61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C-0A4F-4F2F-BF3F-226CF29ADE08}"/>
                </c:ext>
              </c:extLst>
            </c:dLbl>
            <c:dLbl>
              <c:idx val="42"/>
              <c:tx>
                <c:strRef>
                  <c:f>'[CURVA ISOLAMENTO TUBULAÇÃO_STH_REUNIAO_COORDENAÇÃO.xlsx]Avanço por SOP'!$AG$46</c:f>
                  <c:strCache>
                    <c:ptCount val="1"/>
                    <c:pt idx="0">
                      <c:v>0,0%     0,00/258,04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{B97590ED-FE05-4C67-9233-8B08FB0B4DE6}</c15:txfldGUID>
                      <c15:f>'[CURVA ISOLAMENTO TUBULAÇÃO_STH_REUNIAO_COORDENAÇÃO.xlsx]Avanço por SOP'!$AG$46</c15:f>
                      <c15:dlblFieldTableCache>
                        <c:ptCount val="1"/>
                        <c:pt idx="0">
                          <c:v>0,0%     0,00/258,04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D-0A4F-4F2F-BF3F-226CF29ADE08}"/>
                </c:ext>
              </c:extLst>
            </c:dLbl>
            <c:dLbl>
              <c:idx val="43"/>
              <c:tx>
                <c:strRef>
                  <c:f>'[CURVA ISOLAMENTO TUBULAÇÃO_STH_REUNIAO_COORDENAÇÃO.xlsx]Avanço por SOP'!$AG$47</c:f>
                  <c:strCache>
                    <c:ptCount val="1"/>
                    <c:pt idx="0">
                      <c:v>0,0%     0,00/6,47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{965B9713-8E1B-44BC-A857-94D1E557C651}</c15:txfldGUID>
                      <c15:f>'[CURVA ISOLAMENTO TUBULAÇÃO_STH_REUNIAO_COORDENAÇÃO.xlsx]Avanço por SOP'!$AG$47</c15:f>
                      <c15:dlblFieldTableCache>
                        <c:ptCount val="1"/>
                        <c:pt idx="0">
                          <c:v>0,0%     0,00/6,47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E-0A4F-4F2F-BF3F-226CF29ADE08}"/>
                </c:ext>
              </c:extLst>
            </c:dLbl>
            <c:dLbl>
              <c:idx val="44"/>
              <c:tx>
                <c:strRef>
                  <c:f>'[CURVA ISOLAMENTO TUBULAÇÃO_STH_REUNIAO_COORDENAÇÃO.xlsx]Avanço por SOP'!$AG$48</c:f>
                  <c:strCache>
                    <c:ptCount val="1"/>
                    <c:pt idx="0">
                      <c:v>0,0%     0,00/67,58 m</c:v>
                    </c:pt>
                  </c:strCache>
                </c:strRef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{066127A6-C290-4A2B-BE93-50E5C6E0C472}</c15:txfldGUID>
                      <c15:f>'[CURVA ISOLAMENTO TUBULAÇÃO_STH_REUNIAO_COORDENAÇÃO.xlsx]Avanço por SOP'!$AG$48</c15:f>
                      <c15:dlblFieldTableCache>
                        <c:ptCount val="1"/>
                        <c:pt idx="0">
                          <c:v>0,0%     0,00/67,58 m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F-0A4F-4F2F-BF3F-226CF29ADE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7F6000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'[CURVA ISOLAMENTO TUBULAÇÃO_STH_REUNIAO_COORDENAÇÃO.xlsx]Avanço por SOP'!$AA$4:$AA$48</c:f>
              <c:strCache>
                <c:ptCount val="45"/>
                <c:pt idx="0">
                  <c:v>0012-0001-0069</c:v>
                </c:pt>
                <c:pt idx="1">
                  <c:v>0012-0023-0009</c:v>
                </c:pt>
                <c:pt idx="2">
                  <c:v>0012-0039-0012</c:v>
                </c:pt>
                <c:pt idx="3">
                  <c:v>0012-0040-0013</c:v>
                </c:pt>
                <c:pt idx="4">
                  <c:v>0012-0043-0015</c:v>
                </c:pt>
                <c:pt idx="5">
                  <c:v>0012-0045-0031</c:v>
                </c:pt>
                <c:pt idx="6">
                  <c:v>0012-0050-0048</c:v>
                </c:pt>
                <c:pt idx="7">
                  <c:v>0012-0050-0050</c:v>
                </c:pt>
                <c:pt idx="8">
                  <c:v>0012-0050-0051</c:v>
                </c:pt>
                <c:pt idx="9">
                  <c:v>0012-0052-0017</c:v>
                </c:pt>
                <c:pt idx="10">
                  <c:v>0012-0060-0016</c:v>
                </c:pt>
                <c:pt idx="11">
                  <c:v>0012-0060-0019</c:v>
                </c:pt>
                <c:pt idx="12">
                  <c:v>0012-0061-0020</c:v>
                </c:pt>
                <c:pt idx="13">
                  <c:v>0012-0062-0039</c:v>
                </c:pt>
                <c:pt idx="14">
                  <c:v>0012-0063-0021</c:v>
                </c:pt>
                <c:pt idx="15">
                  <c:v>0012-0066-0065</c:v>
                </c:pt>
                <c:pt idx="16">
                  <c:v>0012-0081-0025</c:v>
                </c:pt>
                <c:pt idx="17">
                  <c:v>0012-0081-0063</c:v>
                </c:pt>
                <c:pt idx="18">
                  <c:v>0012-0082-0026</c:v>
                </c:pt>
                <c:pt idx="19">
                  <c:v>0012-0084-0027</c:v>
                </c:pt>
                <c:pt idx="20">
                  <c:v>0012-0085-0028</c:v>
                </c:pt>
                <c:pt idx="21">
                  <c:v>0012-0088-0029</c:v>
                </c:pt>
                <c:pt idx="22">
                  <c:v>0012-0096-0030</c:v>
                </c:pt>
                <c:pt idx="23">
                  <c:v>0012-0101-0032</c:v>
                </c:pt>
                <c:pt idx="24">
                  <c:v>0012-0102-0033</c:v>
                </c:pt>
                <c:pt idx="25">
                  <c:v>0012-0104-0035</c:v>
                </c:pt>
                <c:pt idx="26">
                  <c:v>0012-0105-0036</c:v>
                </c:pt>
                <c:pt idx="27">
                  <c:v>0012-0106-0037</c:v>
                </c:pt>
                <c:pt idx="28">
                  <c:v>0012-0107-0038</c:v>
                </c:pt>
                <c:pt idx="29">
                  <c:v>0012-0109-0040</c:v>
                </c:pt>
                <c:pt idx="30">
                  <c:v>0012-0110-0041</c:v>
                </c:pt>
                <c:pt idx="31">
                  <c:v>0012-0111-0042</c:v>
                </c:pt>
                <c:pt idx="32">
                  <c:v>0012-0112-0043</c:v>
                </c:pt>
                <c:pt idx="33">
                  <c:v>0012-0113-0044</c:v>
                </c:pt>
                <c:pt idx="34">
                  <c:v>0012-0114-0045</c:v>
                </c:pt>
                <c:pt idx="35">
                  <c:v>0012-0115-0046</c:v>
                </c:pt>
                <c:pt idx="36">
                  <c:v>0012-0118-0049</c:v>
                </c:pt>
                <c:pt idx="37">
                  <c:v>0012-0124-0055</c:v>
                </c:pt>
                <c:pt idx="38">
                  <c:v>0012-0129-0062</c:v>
                </c:pt>
                <c:pt idx="39">
                  <c:v>0012-0131-0064</c:v>
                </c:pt>
                <c:pt idx="40">
                  <c:v>0012-0133-0066</c:v>
                </c:pt>
                <c:pt idx="41">
                  <c:v>0012-0136-0070</c:v>
                </c:pt>
                <c:pt idx="42">
                  <c:v>1200-5550-0016</c:v>
                </c:pt>
                <c:pt idx="43">
                  <c:v>LINHA NÃO CADASTRADA NO CT</c:v>
                </c:pt>
                <c:pt idx="44">
                  <c:v>NÃO DEFINIDO</c:v>
                </c:pt>
              </c:strCache>
            </c:strRef>
          </c:cat>
          <c:val>
            <c:numRef>
              <c:f>'[CURVA ISOLAMENTO TUBULAÇÃO_STH_REUNIAO_COORDENAÇÃO.xlsx]Avanço por SOP'!$AE$4:$AE$48</c:f>
              <c:numCache>
                <c:formatCode>0.0%</c:formatCode>
                <c:ptCount val="45"/>
                <c:pt idx="0">
                  <c:v>0.55000000000000004</c:v>
                </c:pt>
                <c:pt idx="1">
                  <c:v>0.55000000000000004</c:v>
                </c:pt>
                <c:pt idx="2">
                  <c:v>0.55000000000000004</c:v>
                </c:pt>
                <c:pt idx="3">
                  <c:v>0.55000000000000004</c:v>
                </c:pt>
                <c:pt idx="4">
                  <c:v>0.55000000000000004</c:v>
                </c:pt>
                <c:pt idx="5">
                  <c:v>0.55000000000000004</c:v>
                </c:pt>
                <c:pt idx="6">
                  <c:v>0.55000000000000004</c:v>
                </c:pt>
                <c:pt idx="7">
                  <c:v>0.55000000000000004</c:v>
                </c:pt>
                <c:pt idx="8">
                  <c:v>0.55000000000000004</c:v>
                </c:pt>
                <c:pt idx="9">
                  <c:v>0.55000000000000004</c:v>
                </c:pt>
                <c:pt idx="10">
                  <c:v>0.55000000000000004</c:v>
                </c:pt>
                <c:pt idx="11">
                  <c:v>0.55000000000000004</c:v>
                </c:pt>
                <c:pt idx="12">
                  <c:v>0.55000000000000004</c:v>
                </c:pt>
                <c:pt idx="13">
                  <c:v>0.55000000000000004</c:v>
                </c:pt>
                <c:pt idx="14">
                  <c:v>0.55000000000000004</c:v>
                </c:pt>
                <c:pt idx="15">
                  <c:v>0.55000000000000004</c:v>
                </c:pt>
                <c:pt idx="16">
                  <c:v>0.55000000000000004</c:v>
                </c:pt>
                <c:pt idx="17">
                  <c:v>0.55000000000000004</c:v>
                </c:pt>
                <c:pt idx="18">
                  <c:v>0.55000000000000004</c:v>
                </c:pt>
                <c:pt idx="19">
                  <c:v>0.55000000000000004</c:v>
                </c:pt>
                <c:pt idx="20">
                  <c:v>0.55000000000000004</c:v>
                </c:pt>
                <c:pt idx="21">
                  <c:v>0.55000000000000004</c:v>
                </c:pt>
                <c:pt idx="22">
                  <c:v>0.55000000000000004</c:v>
                </c:pt>
                <c:pt idx="23">
                  <c:v>0.55000000000000004</c:v>
                </c:pt>
                <c:pt idx="24">
                  <c:v>0.55000000000000004</c:v>
                </c:pt>
                <c:pt idx="25">
                  <c:v>0.55000000000000004</c:v>
                </c:pt>
                <c:pt idx="26">
                  <c:v>0.55000000000000004</c:v>
                </c:pt>
                <c:pt idx="27">
                  <c:v>0.55000000000000004</c:v>
                </c:pt>
                <c:pt idx="28">
                  <c:v>0.55000000000000004</c:v>
                </c:pt>
                <c:pt idx="29">
                  <c:v>0.55000000000000004</c:v>
                </c:pt>
                <c:pt idx="30">
                  <c:v>0.55000000000000004</c:v>
                </c:pt>
                <c:pt idx="31">
                  <c:v>0.55000000000000004</c:v>
                </c:pt>
                <c:pt idx="32">
                  <c:v>0.55000000000000004</c:v>
                </c:pt>
                <c:pt idx="33">
                  <c:v>0.55000000000000004</c:v>
                </c:pt>
                <c:pt idx="34">
                  <c:v>0.55000000000000004</c:v>
                </c:pt>
                <c:pt idx="35">
                  <c:v>0.55000000000000004</c:v>
                </c:pt>
                <c:pt idx="36">
                  <c:v>0.55000000000000004</c:v>
                </c:pt>
                <c:pt idx="37">
                  <c:v>0.55000000000000004</c:v>
                </c:pt>
                <c:pt idx="38">
                  <c:v>0.55000000000000004</c:v>
                </c:pt>
                <c:pt idx="39">
                  <c:v>0.55000000000000004</c:v>
                </c:pt>
                <c:pt idx="40">
                  <c:v>0.55000000000000004</c:v>
                </c:pt>
                <c:pt idx="41">
                  <c:v>0.55000000000000004</c:v>
                </c:pt>
                <c:pt idx="42">
                  <c:v>0.55000000000000004</c:v>
                </c:pt>
                <c:pt idx="43">
                  <c:v>0.55000000000000004</c:v>
                </c:pt>
                <c:pt idx="44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0A4F-4F2F-BF3F-226CF29ADE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100"/>
        <c:axId val="616672287"/>
        <c:axId val="616671807"/>
      </c:barChart>
      <c:catAx>
        <c:axId val="61667228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2540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6671807"/>
        <c:crosses val="autoZero"/>
        <c:auto val="1"/>
        <c:lblAlgn val="ctr"/>
        <c:lblOffset val="100"/>
        <c:noMultiLvlLbl val="0"/>
      </c:catAx>
      <c:valAx>
        <c:axId val="616671807"/>
        <c:scaling>
          <c:orientation val="minMax"/>
          <c:max val="1.55"/>
          <c:min val="0"/>
        </c:scaling>
        <c:delete val="1"/>
        <c:axPos val="t"/>
        <c:numFmt formatCode="0.0%" sourceLinked="1"/>
        <c:majorTickMark val="none"/>
        <c:minorTickMark val="none"/>
        <c:tickLblPos val="nextTo"/>
        <c:crossAx val="616672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0F3D9-3A56-4FC1-80CF-303C3E4779B7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43C06-5457-4973-B6D0-46A4EF89BD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60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6011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358D-1A93-05BE-C696-BEFEB292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0E86B9-336B-3369-40E5-8DCEC0D59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3DF2B4-FCF3-89BF-43EE-F0526A80B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DF74C2-13FF-F9E9-B390-3C8C889EE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43C06-5457-4973-B6D0-46A4EF89BD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508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12AA9-C3B2-FFE2-51EE-65041B31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08E2C8-D8C0-3609-47B4-32052D2B4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D47E5B1-0EED-4E8D-CBC3-169934A0A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D34F3B-B4AE-E6B0-AD93-56EDD1AE3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43C06-5457-4973-B6D0-46A4EF89BD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15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818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05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96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878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8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8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976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128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133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28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695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7743549" y="928745"/>
            <a:ext cx="4286190" cy="7721069"/>
          </a:xfrm>
          <a:custGeom>
            <a:avLst/>
            <a:gdLst>
              <a:gd name="connsiteX0" fmla="*/ 0 w 4082086"/>
              <a:gd name="connsiteY0" fmla="*/ 0 h 4646031"/>
              <a:gd name="connsiteX1" fmla="*/ 4082086 w 4082086"/>
              <a:gd name="connsiteY1" fmla="*/ 0 h 4646031"/>
              <a:gd name="connsiteX2" fmla="*/ 4082086 w 4082086"/>
              <a:gd name="connsiteY2" fmla="*/ 4646031 h 4646031"/>
              <a:gd name="connsiteX3" fmla="*/ 0 w 4082086"/>
              <a:gd name="connsiteY3" fmla="*/ 4646031 h 4646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2086" h="4646031">
                <a:moveTo>
                  <a:pt x="0" y="0"/>
                </a:moveTo>
                <a:lnTo>
                  <a:pt x="4082086" y="0"/>
                </a:lnTo>
                <a:lnTo>
                  <a:pt x="4082086" y="4646031"/>
                </a:lnTo>
                <a:lnTo>
                  <a:pt x="0" y="4646031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6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0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AFE70-DF1E-4C1D-A1EE-5AB7B317A6A3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06774-A3D6-40B1-B1F7-CDB64123F7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46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Uma imagem contendo metal, fio, grande, em pé&#10;&#10;Descrição gerada automaticamente">
            <a:extLst>
              <a:ext uri="{FF2B5EF4-FFF2-40B4-BE49-F238E27FC236}">
                <a16:creationId xmlns:a16="http://schemas.microsoft.com/office/drawing/2014/main" id="{9168B088-30C4-97E2-0A77-0B0B9CDCBA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94"/>
          <a:stretch/>
        </p:blipFill>
        <p:spPr>
          <a:xfrm>
            <a:off x="989" y="1203533"/>
            <a:ext cx="12799625" cy="7197518"/>
          </a:xfrm>
          <a:prstGeom prst="rect">
            <a:avLst/>
          </a:prstGeom>
        </p:spPr>
      </p:pic>
      <p:sp>
        <p:nvSpPr>
          <p:cNvPr id="6" name="Pentágono 5">
            <a:extLst>
              <a:ext uri="{FF2B5EF4-FFF2-40B4-BE49-F238E27FC236}">
                <a16:creationId xmlns:a16="http://schemas.microsoft.com/office/drawing/2014/main" id="{6C791DD7-AAC6-1BFC-0D9D-FF1379B32220}"/>
              </a:ext>
            </a:extLst>
          </p:cNvPr>
          <p:cNvSpPr/>
          <p:nvPr/>
        </p:nvSpPr>
        <p:spPr>
          <a:xfrm rot="15158375">
            <a:off x="3940216" y="-531698"/>
            <a:ext cx="11932799" cy="9562856"/>
          </a:xfrm>
          <a:prstGeom prst="pentagon">
            <a:avLst/>
          </a:prstGeom>
          <a:solidFill>
            <a:srgbClr val="003D73">
              <a:alpha val="70000"/>
            </a:srgbClr>
          </a:solidFill>
          <a:ln>
            <a:solidFill>
              <a:srgbClr val="3E5266">
                <a:alpha val="8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60024">
              <a:defRPr/>
            </a:pPr>
            <a:endParaRPr lang="pt-BR" sz="1890">
              <a:solidFill>
                <a:prstClr val="white"/>
              </a:solidFill>
              <a:latin typeface="Segoe UI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BCAD825E-6A03-5FB7-0882-0064B6CEE448}"/>
              </a:ext>
            </a:extLst>
          </p:cNvPr>
          <p:cNvCxnSpPr>
            <a:cxnSpLocks/>
          </p:cNvCxnSpPr>
          <p:nvPr/>
        </p:nvCxnSpPr>
        <p:spPr>
          <a:xfrm>
            <a:off x="12808340" y="200734"/>
            <a:ext cx="0" cy="9199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10">
            <a:extLst>
              <a:ext uri="{FF2B5EF4-FFF2-40B4-BE49-F238E27FC236}">
                <a16:creationId xmlns:a16="http://schemas.microsoft.com/office/drawing/2014/main" id="{35541D71-B8AE-8CFA-486E-A1CC61051CEE}"/>
              </a:ext>
            </a:extLst>
          </p:cNvPr>
          <p:cNvSpPr txBox="1"/>
          <p:nvPr/>
        </p:nvSpPr>
        <p:spPr>
          <a:xfrm>
            <a:off x="6124554" y="3805089"/>
            <a:ext cx="6676058" cy="2012943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algn="ctr" defTabSz="960024">
              <a:defRPr/>
            </a:pPr>
            <a:r>
              <a:rPr lang="pt-BR" sz="2240" b="1" dirty="0">
                <a:solidFill>
                  <a:srgbClr val="FFFFFF"/>
                </a:solidFill>
                <a:latin typeface="Segoe UI"/>
              </a:rPr>
              <a:t>REFINARIA ABREU E LIMA </a:t>
            </a:r>
          </a:p>
          <a:p>
            <a:pPr algn="ctr" defTabSz="960024">
              <a:defRPr/>
            </a:pPr>
            <a:r>
              <a:rPr lang="pt-BR" sz="3780" b="1" dirty="0">
                <a:solidFill>
                  <a:srgbClr val="FFFFFF"/>
                </a:solidFill>
                <a:latin typeface="Segoe UI"/>
              </a:rPr>
              <a:t>UDA - LOTE F</a:t>
            </a:r>
          </a:p>
          <a:p>
            <a:pPr algn="ctr" defTabSz="960024">
              <a:defRPr/>
            </a:pPr>
            <a:r>
              <a:rPr lang="pt-BR" sz="3360" dirty="0">
                <a:solidFill>
                  <a:srgbClr val="FFFFFF"/>
                </a:solidFill>
                <a:latin typeface="Segoe UI"/>
              </a:rPr>
              <a:t>Indicador de avanço físico</a:t>
            </a:r>
          </a:p>
          <a:p>
            <a:pPr algn="ctr" defTabSz="960024">
              <a:defRPr/>
            </a:pPr>
            <a:r>
              <a:rPr lang="pt-BR" sz="3360" b="1" dirty="0">
                <a:solidFill>
                  <a:srgbClr val="FFFFFF"/>
                </a:solidFill>
                <a:latin typeface="Segoe UI"/>
              </a:rPr>
              <a:t>ESTRUTURA METÁLICA e ISOLAMENTO</a:t>
            </a:r>
          </a:p>
          <a:p>
            <a:pPr algn="ctr" defTabSz="960024">
              <a:defRPr/>
            </a:pPr>
            <a:r>
              <a:rPr lang="pt-BR" sz="3360" dirty="0">
                <a:solidFill>
                  <a:srgbClr val="FFFFFF"/>
                </a:solidFill>
                <a:latin typeface="Segoe UI"/>
              </a:rPr>
              <a:t>Semana 69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C7AEAABB-EA11-C226-0D53-F639D7D23EEB}"/>
              </a:ext>
            </a:extLst>
          </p:cNvPr>
          <p:cNvGrpSpPr/>
          <p:nvPr/>
        </p:nvGrpSpPr>
        <p:grpSpPr>
          <a:xfrm>
            <a:off x="4462189" y="3015"/>
            <a:ext cx="5866008" cy="7678628"/>
            <a:chOff x="4412100" y="-1034446"/>
            <a:chExt cx="5587536" cy="7314107"/>
          </a:xfrm>
          <a:solidFill>
            <a:srgbClr val="FFCC01"/>
          </a:solidFill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2EA4C59-D782-D469-0717-3945B831FA24}"/>
                </a:ext>
              </a:extLst>
            </p:cNvPr>
            <p:cNvSpPr/>
            <p:nvPr/>
          </p:nvSpPr>
          <p:spPr>
            <a:xfrm rot="838991">
              <a:off x="5734298" y="-1034446"/>
              <a:ext cx="108000" cy="555213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0009">
                <a:defRPr/>
              </a:pPr>
              <a:endParaRPr lang="pt-BR" sz="1890">
                <a:solidFill>
                  <a:srgbClr val="FFFFFF"/>
                </a:solidFill>
                <a:latin typeface="Lato"/>
              </a:endParaRP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CADAF057-3127-CDA8-A2E5-1FD790E08747}"/>
                </a:ext>
              </a:extLst>
            </p:cNvPr>
            <p:cNvSpPr/>
            <p:nvPr/>
          </p:nvSpPr>
          <p:spPr>
            <a:xfrm rot="18666016">
              <a:off x="7151868" y="3431893"/>
              <a:ext cx="108000" cy="5587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0009">
                <a:defRPr/>
              </a:pPr>
              <a:endParaRPr lang="pt-BR" sz="1890">
                <a:solidFill>
                  <a:srgbClr val="FFFFFF"/>
                </a:solidFill>
                <a:latin typeface="Lato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0B0785B-0E19-DBAB-8347-D125E37E441E}"/>
              </a:ext>
            </a:extLst>
          </p:cNvPr>
          <p:cNvGrpSpPr/>
          <p:nvPr/>
        </p:nvGrpSpPr>
        <p:grpSpPr>
          <a:xfrm>
            <a:off x="4897892" y="1107"/>
            <a:ext cx="5866008" cy="7678426"/>
            <a:chOff x="4386068" y="-1044014"/>
            <a:chExt cx="5587536" cy="7313916"/>
          </a:xfrm>
          <a:solidFill>
            <a:srgbClr val="FFF1CD"/>
          </a:solidFill>
        </p:grpSpPr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8F353AE7-D960-4F45-8568-6785EF8EC346}"/>
                </a:ext>
              </a:extLst>
            </p:cNvPr>
            <p:cNvSpPr/>
            <p:nvPr/>
          </p:nvSpPr>
          <p:spPr>
            <a:xfrm rot="838991">
              <a:off x="5735471" y="-1044014"/>
              <a:ext cx="28800" cy="555213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0009">
                <a:defRPr/>
              </a:pPr>
              <a:endParaRPr lang="pt-BR" sz="1890">
                <a:solidFill>
                  <a:srgbClr val="FFFFFF"/>
                </a:solidFill>
                <a:latin typeface="Lato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0E19A1B2-2FB7-C5B7-BE96-177549C48136}"/>
                </a:ext>
              </a:extLst>
            </p:cNvPr>
            <p:cNvSpPr/>
            <p:nvPr/>
          </p:nvSpPr>
          <p:spPr>
            <a:xfrm rot="18666016">
              <a:off x="7165436" y="3461734"/>
              <a:ext cx="28800" cy="5587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20009">
                <a:defRPr/>
              </a:pPr>
              <a:endParaRPr lang="pt-BR" sz="1890">
                <a:solidFill>
                  <a:srgbClr val="FFFFFF"/>
                </a:solidFill>
                <a:latin typeface="Lato"/>
              </a:endParaRPr>
            </a:p>
          </p:txBody>
        </p:sp>
      </p:grpSp>
      <p:sp>
        <p:nvSpPr>
          <p:cNvPr id="2" name="Triângulo isósceles 1">
            <a:extLst>
              <a:ext uri="{FF2B5EF4-FFF2-40B4-BE49-F238E27FC236}">
                <a16:creationId xmlns:a16="http://schemas.microsoft.com/office/drawing/2014/main" id="{1C760A56-0460-EB1A-D7A2-41648D7C972E}"/>
              </a:ext>
            </a:extLst>
          </p:cNvPr>
          <p:cNvSpPr/>
          <p:nvPr/>
        </p:nvSpPr>
        <p:spPr>
          <a:xfrm rot="20416104">
            <a:off x="-1860302" y="5183597"/>
            <a:ext cx="4576193" cy="4164356"/>
          </a:xfrm>
          <a:prstGeom prst="triangle">
            <a:avLst/>
          </a:prstGeom>
          <a:solidFill>
            <a:srgbClr val="003D73">
              <a:alpha val="70000"/>
            </a:srgbClr>
          </a:solidFill>
          <a:ln>
            <a:solidFill>
              <a:srgbClr val="3E5266">
                <a:alpha val="8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09">
              <a:defRPr/>
            </a:pPr>
            <a:endParaRPr lang="pt-BR" sz="189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5266F64-B301-3CB2-31C3-D704EEC3A75F}"/>
              </a:ext>
            </a:extLst>
          </p:cNvPr>
          <p:cNvSpPr/>
          <p:nvPr/>
        </p:nvSpPr>
        <p:spPr>
          <a:xfrm rot="2478518">
            <a:off x="-898849" y="6975031"/>
            <a:ext cx="5301370" cy="75588"/>
          </a:xfrm>
          <a:prstGeom prst="rect">
            <a:avLst/>
          </a:prstGeom>
          <a:solidFill>
            <a:srgbClr val="FFCC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09">
              <a:defRPr/>
            </a:pPr>
            <a:endParaRPr lang="pt-BR" sz="1890">
              <a:solidFill>
                <a:srgbClr val="FFFFFF"/>
              </a:solidFill>
              <a:latin typeface="Lato"/>
            </a:endParaRP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3C897DC-1A93-DB04-65D9-CE64A9F03455}"/>
              </a:ext>
            </a:extLst>
          </p:cNvPr>
          <p:cNvCxnSpPr>
            <a:cxnSpLocks/>
          </p:cNvCxnSpPr>
          <p:nvPr/>
        </p:nvCxnSpPr>
        <p:spPr>
          <a:xfrm>
            <a:off x="93363" y="5456651"/>
            <a:ext cx="3903862" cy="3453232"/>
          </a:xfrm>
          <a:prstGeom prst="line">
            <a:avLst/>
          </a:prstGeom>
          <a:ln w="19050">
            <a:solidFill>
              <a:srgbClr val="FFF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E2FF2444-7A9D-F301-91A8-D9850DACD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275" y="7213318"/>
            <a:ext cx="5543574" cy="138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1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7650-D829-112D-D263-5F0283FB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tângulo 140">
            <a:extLst>
              <a:ext uri="{FF2B5EF4-FFF2-40B4-BE49-F238E27FC236}">
                <a16:creationId xmlns:a16="http://schemas.microsoft.com/office/drawing/2014/main" id="{EDB504D3-A54E-65FB-EF67-E70088AA7B3C}"/>
              </a:ext>
            </a:extLst>
          </p:cNvPr>
          <p:cNvSpPr/>
          <p:nvPr/>
        </p:nvSpPr>
        <p:spPr>
          <a:xfrm>
            <a:off x="1515540" y="195362"/>
            <a:ext cx="975728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8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ACOMPANHAMENTO VISUAL ISOLAMENTO DE TUBULAÇÃO</a:t>
            </a:r>
          </a:p>
        </p:txBody>
      </p:sp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CD044DA7-6DD3-FF48-0F4B-A4BA0B0A3EE1}"/>
              </a:ext>
            </a:extLst>
          </p:cNvPr>
          <p:cNvSpPr txBox="1"/>
          <p:nvPr/>
        </p:nvSpPr>
        <p:spPr>
          <a:xfrm>
            <a:off x="11554537" y="0"/>
            <a:ext cx="124706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DATA</a:t>
            </a:r>
            <a:r>
              <a:rPr lang="pt-BR" sz="1600" b="1" dirty="0"/>
              <a:t>         </a:t>
            </a:r>
            <a:r>
              <a:rPr lang="pt-BR" sz="1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27/10/2026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7C1F550-0F5D-4C25-8B8B-656344CD2D79}"/>
              </a:ext>
            </a:extLst>
          </p:cNvPr>
          <p:cNvSpPr txBox="1"/>
          <p:nvPr/>
        </p:nvSpPr>
        <p:spPr>
          <a:xfrm>
            <a:off x="0" y="8499340"/>
            <a:ext cx="3167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/>
              <a:t>LEGENDA: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3BDDC7-59DF-4A1D-FB56-C60C4FB77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73604"/>
            <a:ext cx="12789820" cy="6563736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11E8AC2-5D5C-26C6-F0BF-2B61F1C49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894400"/>
              </p:ext>
            </p:extLst>
          </p:nvPr>
        </p:nvGraphicFramePr>
        <p:xfrm>
          <a:off x="26308" y="8807117"/>
          <a:ext cx="2362200" cy="762000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80523101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1266594944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CONCLUÍDO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6386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PROGRAMADO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4212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0" i="0" u="none" strike="noStrike">
                          <a:effectLst/>
                          <a:latin typeface="Carlito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NÃO INSTALADO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792431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016EA52-A538-FA7F-D827-5A118987D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48583"/>
              </p:ext>
            </p:extLst>
          </p:nvPr>
        </p:nvGraphicFramePr>
        <p:xfrm>
          <a:off x="9296400" y="1643501"/>
          <a:ext cx="3136900" cy="952500"/>
        </p:xfrm>
        <a:graphic>
          <a:graphicData uri="http://schemas.openxmlformats.org/drawingml/2006/table">
            <a:tbl>
              <a:tblPr/>
              <a:tblGrid>
                <a:gridCol w="3136900">
                  <a:extLst>
                    <a:ext uri="{9D8B030D-6E8A-4147-A177-3AD203B41FA5}">
                      <a16:colId xmlns:a16="http://schemas.microsoft.com/office/drawing/2014/main" val="236566473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LINHAS PROGRAMADAS PARA A S70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352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10"-HC-12-00023-C27-IQ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0293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10"-HC-12-00289-ME-IQ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035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8"-HC-12-00260-Me-IQ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4914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12"-HC-12-00174-B28-IQ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783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94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E34EF-33AC-BD1E-B5A6-1E5A7968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tângulo 140">
            <a:extLst>
              <a:ext uri="{FF2B5EF4-FFF2-40B4-BE49-F238E27FC236}">
                <a16:creationId xmlns:a16="http://schemas.microsoft.com/office/drawing/2014/main" id="{B82BAA2D-C43D-2E45-40F5-A32614252AC6}"/>
              </a:ext>
            </a:extLst>
          </p:cNvPr>
          <p:cNvSpPr/>
          <p:nvPr/>
        </p:nvSpPr>
        <p:spPr>
          <a:xfrm>
            <a:off x="1412453" y="20310"/>
            <a:ext cx="993175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8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MAPA VISUAL DE AVANÇO DE ISOLAMENTO DE TUBULAÇÃO </a:t>
            </a:r>
          </a:p>
        </p:txBody>
      </p:sp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2E38FA05-AFEA-F835-2EF2-A5045E7B6BEA}"/>
              </a:ext>
            </a:extLst>
          </p:cNvPr>
          <p:cNvSpPr txBox="1"/>
          <p:nvPr/>
        </p:nvSpPr>
        <p:spPr>
          <a:xfrm>
            <a:off x="11554537" y="0"/>
            <a:ext cx="1247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DATA</a:t>
            </a:r>
            <a:r>
              <a:rPr lang="pt-BR" sz="1600" b="1" dirty="0"/>
              <a:t>         </a:t>
            </a:r>
            <a:r>
              <a:rPr lang="pt-BR" sz="1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27/10/2026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935D58C-9D40-745D-F9CE-CA99C186A8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078" r="39779" b="94890"/>
          <a:stretch>
            <a:fillRect/>
          </a:stretch>
        </p:blipFill>
        <p:spPr>
          <a:xfrm>
            <a:off x="5038440" y="1643864"/>
            <a:ext cx="2679783" cy="409635"/>
          </a:xfrm>
          <a:prstGeom prst="rect">
            <a:avLst/>
          </a:prstGeom>
        </p:spPr>
      </p:pic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7BFC7B4B-E03C-5571-B267-8CB3EA73B6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9537709"/>
              </p:ext>
            </p:extLst>
          </p:nvPr>
        </p:nvGraphicFramePr>
        <p:xfrm>
          <a:off x="185325" y="1993900"/>
          <a:ext cx="12616275" cy="7586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58C977A-23A2-2A20-5AEC-5B8F0CC46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64235"/>
              </p:ext>
            </p:extLst>
          </p:nvPr>
        </p:nvGraphicFramePr>
        <p:xfrm>
          <a:off x="3048000" y="888214"/>
          <a:ext cx="6096000" cy="75565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96504648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137891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5862397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0667255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7174926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627614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RESUMO GERAL DE EXECUÇÃO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04174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(m)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Executado (m)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Restante (m)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Executado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SOPs com avanço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de SOPs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202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26.936,31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1.806,90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25.129,41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24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903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B76777C-67CE-487D-9E82-4E2B4F3C2BCF}">
  <we:reference id="WA200010215" version="2.0.0.0" store="Omex" storeType="OMEX"/>
  <we:alternateReferences>
    <we:reference id="WA200010215" version="2.0.0.0" store="WA200010215" storeType="OMEX"/>
  </we:alternateReferences>
  <we:properties>
    <we:property name="bps.codex_control.document_id" value="&quot;7d3dd445-d095-444b-9f5c-6f8f63234391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70D9439-5ED2-4C74-BDC8-3DE90089662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a1e92035-0dd0-4fb3-8ad2-d9b4274efc9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85B02DCC98FB146B538A7DCAAD9EAAD" ma:contentTypeVersion="16" ma:contentTypeDescription="Crie um novo documento." ma:contentTypeScope="" ma:versionID="4a01ab062f587ae806f137a3cfa13680">
  <xsd:schema xmlns:xsd="http://www.w3.org/2001/XMLSchema" xmlns:xs="http://www.w3.org/2001/XMLSchema" xmlns:p="http://schemas.microsoft.com/office/2006/metadata/properties" xmlns:ns3="628beee7-00d6-4a8b-9979-7711ec89862e" xmlns:ns4="ed8bd3c1-0ca3-4ea9-ae7f-2a031503cc49" targetNamespace="http://schemas.microsoft.com/office/2006/metadata/properties" ma:root="true" ma:fieldsID="a65f8bae13c1a2b8df685e13ad7eb54c" ns3:_="" ns4:_="">
    <xsd:import namespace="628beee7-00d6-4a8b-9979-7711ec89862e"/>
    <xsd:import namespace="ed8bd3c1-0ca3-4ea9-ae7f-2a031503cc4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beee7-00d6-4a8b-9979-7711ec8986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8bd3c1-0ca3-4ea9-ae7f-2a031503cc4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8beee7-00d6-4a8b-9979-7711ec89862e" xsi:nil="true"/>
  </documentManagement>
</p:properties>
</file>

<file path=customXml/itemProps1.xml><?xml version="1.0" encoding="utf-8"?>
<ds:datastoreItem xmlns:ds="http://schemas.openxmlformats.org/officeDocument/2006/customXml" ds:itemID="{8F84AD87-D156-44C1-AF1C-B39367CA64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8beee7-00d6-4a8b-9979-7711ec89862e"/>
    <ds:schemaRef ds:uri="ed8bd3c1-0ca3-4ea9-ae7f-2a031503cc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387192-45ED-413D-9E2E-74F589B81E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C791AD-99AA-4ECD-B311-96119F673E64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ed8bd3c1-0ca3-4ea9-ae7f-2a031503cc49"/>
    <ds:schemaRef ds:uri="http://purl.org/dc/elements/1.1/"/>
    <ds:schemaRef ds:uri="http://purl.org/dc/terms/"/>
    <ds:schemaRef ds:uri="628beee7-00d6-4a8b-9979-7711ec89862e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98</Words>
  <Application>Microsoft Office PowerPoint</Application>
  <PresentationFormat>Papel A3 (297 x 420 mm)</PresentationFormat>
  <Paragraphs>38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Carlito</vt:lpstr>
      <vt:lpstr>Lato</vt:lpstr>
      <vt:lpstr>Segoe UI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Jose de Mendonca dos Santos</dc:creator>
  <cp:lastModifiedBy>Talison Claudino Martins do Nascimento</cp:lastModifiedBy>
  <cp:revision>3</cp:revision>
  <dcterms:created xsi:type="dcterms:W3CDTF">2026-07-13T21:29:11Z</dcterms:created>
  <dcterms:modified xsi:type="dcterms:W3CDTF">2026-10-27T17:33:55Z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0x010100285B02DCC98FB146B538A7DCAAD9EAAD</vt:lpwstr>
  </property>
</Properties>
</file>